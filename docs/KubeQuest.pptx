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532" autoAdjust="0"/>
  </p:normalViewPr>
  <p:slideViewPr>
    <p:cSldViewPr snapToGrid="0" snapToObjects="1">
      <p:cViewPr varScale="1">
        <p:scale>
          <a:sx n="120" d="100"/>
          <a:sy n="120" d="100"/>
        </p:scale>
        <p:origin x="1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7329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Nous sommes le Groupe 50, et notre projet s'appelle KubeQuest. L'objectif : prendre une application Laravel qui tournait à l'origine en simple docker-compose, et la déployer sur un vrai cluster Kubernetes multi-nœuds en production sur AWS — avec toute la chaîne qu'on attend d'une plateforme sérieuse : infrastructure as code, load balancing, observabilité, GitOps, autoscaling, sauvegardes et sécurité.</a:t>
            </a:r>
          </a:p>
          <a:p>
            <a:r>
              <a:t>Aujourd'hui, on ne vous présente pas une maquette : une infrastructure complète, provisionnée, livrée, observée et sécurisée. Je vais la dérouler couche par couche.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vue d'ensemble. Le cluster tourne sur 4 machines EC2, et chaque nœud a un rôle précis — c'est un choix d'architecture.</a:t>
            </a:r>
          </a:p>
          <a:p>
            <a:r>
              <a:t>- node-1, le control plane : le cerveau. API server, base etcd, scheduler, contrôleur, Calico. Il fait aussi worker.</a:t>
            </a:r>
          </a:p>
          <a:p>
            <a:r>
              <a:t>- node-3, l'ingress : la porte d'entrée unique du trafic externe, avec le TLS.</a:t>
            </a:r>
          </a:p>
          <a:p>
            <a:r>
              <a:t>- node-2, le worker métier : l'application Laravel et sa base de données.</a:t>
            </a:r>
          </a:p>
          <a:p>
            <a:r>
              <a:t>- node-4, le monitoring : Prometheus, Grafana, Loki — il observe tout le reste.</a:t>
            </a:r>
          </a:p>
          <a:p>
            <a:r>
              <a:t>Deux flux à retenir. Le flux applicatif : utilisateur → ingress → Service → pod Laravel → base. Le flux d'observabilité : les pods exposent des métriques que Prometheus récupère, Promtail pousse les logs vers Loki, tout converge dans Grafana. Le tout sur un réseau privé stable, région AWS de Francfort.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important : rien n'est fait à la main sur AWS. Tout le socle est décrit en Terraform, environ 580 lignes, et se reconstruit avec une seule commande : terraform apply.</a:t>
            </a:r>
          </a:p>
          <a:p>
            <a:r>
              <a:t>Terraform crée le réseau (VPC, Internet Gateway, subnet public, route table, réseau privé 10.2.50.0/24) ; la sécurité réseau avec trois Security Groups — nœuds, ingress, monitoring — qui n'ouvrent que les ports nécessaires (SSH, API 6443, kubelet, NodePorts) ; et les 4 instances EC2, chacune avec un user_data qui pré-installe les prérequis Kubernetes au démarrage.</a:t>
            </a:r>
          </a:p>
          <a:p>
            <a:r>
              <a:t>Détail sécurité : la clé SSH n'est jamais en clair, elle est lue depuis AWS SSM Parameter Store. L'infrastructure est reproductible et auditable.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ces machines, le cluster est monté à la main avec kubeadm — pas de service managé type EKS, justement pour maîtriser chaque étape.</a:t>
            </a:r>
          </a:p>
          <a:p>
            <a:r>
              <a:t>kubeadm init sur node-1, puis les trois autres rejoignent avec kubeadm join : 4 nœuds Ready. Runtime containerd, réseau des pods géré par la CNI Calico, Kubernetes v1.31.</a:t>
            </a:r>
          </a:p>
          <a:p>
            <a:r>
              <a:t>Point technique qu'on maîtrise : le ciblage des workloads via les labels de rôle et le nodeSelector. La stack de monitoring va sur le nœud labellisé monitoring, l'application va précisément là où son image est disponible. D'où cette architecture propre, un rôle par nœud.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Comment le trafic entre, et comment on l'isole.</a:t>
            </a:r>
          </a:p>
          <a:p>
            <a:r>
              <a:t>L'entrée se fait par le nginx-ingress : point d'entrée unique, routage par nom d'hôte vers les Services. Subtilité AWS : sur des EC2 auto-gérées, pas de LoadBalancer cloud natif, donc on expose aussi via NodePort en secours — c'est documenté et assumé.</a:t>
            </a:r>
          </a:p>
          <a:p>
            <a:r>
              <a:t>Le TLS est géré par cert-manager : un ClusterIssuer émet automatiquement les certificats HTTPS sur les Ingress, avec renouvellement automatique.</a:t>
            </a:r>
          </a:p>
          <a:p>
            <a:r>
              <a:t>Surtout, l'isolation : des NetworkPolicies. Par défaut l'application n'est joignable que par l'ingress et le monitoring — tous les autres namespaces sont bloqués. Vérifié en direct : un pod du namespace default qui tente de joindre l'app tombe en timeout. La segmentation est réelle.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L'application n'est pas déployée avec des kubectl apply éparpillés : elle est packagée dans un chart Helm complet, avec tous les objets Kubernetes en templates.</a:t>
            </a:r>
          </a:p>
          <a:p>
            <a:r>
              <a:t>On y trouve le Deployment, le Service, l'Ingress, la ConfigMap, le Secret pour les données sensibles, mais aussi tout ce qui fait une app de prod : le HPA (autoscaling), le PodDisruptionBudget (disponibilité), le PVC (stockage), le ServiceAccount, un CronJob de backup, un ServiceMonitor, et des tests Helm.</a:t>
            </a:r>
          </a:p>
          <a:p>
            <a:r>
              <a:t>La base de données est fournie par un chart Helm officiel, en dépendance — persistance, auth via Secret, métriques.</a:t>
            </a:r>
          </a:p>
          <a:p>
            <a:r>
              <a:t>Avantage : helm install déploie l'app ET sa base d'un coup, config centralisée dans un values.yaml, et Helm gère proprement les upgrades et rollbacks par versions.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Cette slide </a:t>
            </a:r>
            <a:r>
              <a:rPr dirty="0" err="1"/>
              <a:t>résume</a:t>
            </a:r>
            <a:r>
              <a:rPr dirty="0"/>
              <a:t> </a:t>
            </a:r>
            <a:r>
              <a:rPr dirty="0" err="1"/>
              <a:t>ce</a:t>
            </a:r>
            <a:r>
              <a:rPr dirty="0"/>
              <a:t> qui fait </a:t>
            </a:r>
            <a:r>
              <a:rPr dirty="0" err="1"/>
              <a:t>une</a:t>
            </a:r>
            <a:r>
              <a:rPr dirty="0"/>
              <a:t> app pensée pour la production, pas </a:t>
            </a:r>
            <a:r>
              <a:rPr dirty="0" err="1"/>
              <a:t>juste</a:t>
            </a:r>
            <a:r>
              <a:rPr dirty="0"/>
              <a:t> « qui </a:t>
            </a:r>
            <a:r>
              <a:rPr dirty="0" err="1"/>
              <a:t>tourne</a:t>
            </a:r>
            <a:r>
              <a:rPr dirty="0"/>
              <a:t> ». Huit pratiques :</a:t>
            </a:r>
          </a:p>
          <a:p>
            <a:r>
              <a:rPr dirty="0"/>
              <a:t>- </a:t>
            </a:r>
            <a:r>
              <a:rPr dirty="0" err="1"/>
              <a:t>Ressources</a:t>
            </a:r>
            <a:r>
              <a:rPr dirty="0"/>
              <a:t> : requests et limits CPU/</a:t>
            </a:r>
            <a:r>
              <a:rPr dirty="0" err="1"/>
              <a:t>mémoire</a:t>
            </a:r>
            <a:r>
              <a:rPr dirty="0"/>
              <a:t> par </a:t>
            </a:r>
            <a:r>
              <a:rPr dirty="0" err="1"/>
              <a:t>conteneur</a:t>
            </a:r>
            <a:r>
              <a:rPr dirty="0"/>
              <a:t>.</a:t>
            </a:r>
          </a:p>
          <a:p>
            <a:r>
              <a:rPr dirty="0"/>
              <a:t>- </a:t>
            </a:r>
            <a:r>
              <a:rPr dirty="0" err="1"/>
              <a:t>Redondance</a:t>
            </a:r>
            <a:r>
              <a:rPr dirty="0"/>
              <a:t> : 3 replicas + </a:t>
            </a:r>
            <a:r>
              <a:rPr dirty="0" err="1"/>
              <a:t>PodDisruptionBudget</a:t>
            </a:r>
            <a:r>
              <a:rPr dirty="0"/>
              <a:t>.</a:t>
            </a:r>
          </a:p>
          <a:p>
            <a:r>
              <a:rPr dirty="0"/>
              <a:t>- Anti-</a:t>
            </a:r>
            <a:r>
              <a:rPr dirty="0" err="1"/>
              <a:t>affinité</a:t>
            </a:r>
            <a:r>
              <a:rPr dirty="0"/>
              <a:t> : replicas </a:t>
            </a:r>
            <a:r>
              <a:rPr dirty="0" err="1"/>
              <a:t>répartis</a:t>
            </a:r>
            <a:r>
              <a:rPr dirty="0"/>
              <a:t> sur des </a:t>
            </a:r>
            <a:r>
              <a:rPr dirty="0" err="1"/>
              <a:t>nœuds</a:t>
            </a:r>
            <a:r>
              <a:rPr dirty="0"/>
              <a:t> </a:t>
            </a:r>
            <a:r>
              <a:rPr dirty="0" err="1"/>
              <a:t>différents</a:t>
            </a:r>
            <a:r>
              <a:rPr dirty="0"/>
              <a:t> ; </a:t>
            </a:r>
            <a:r>
              <a:rPr dirty="0" err="1"/>
              <a:t>si</a:t>
            </a:r>
            <a:r>
              <a:rPr dirty="0"/>
              <a:t> un </a:t>
            </a:r>
            <a:r>
              <a:rPr dirty="0" err="1"/>
              <a:t>nœud</a:t>
            </a:r>
            <a:r>
              <a:rPr dirty="0"/>
              <a:t> </a:t>
            </a:r>
            <a:r>
              <a:rPr dirty="0" err="1"/>
              <a:t>tombe</a:t>
            </a:r>
            <a:r>
              <a:rPr dirty="0"/>
              <a:t>, </a:t>
            </a:r>
            <a:r>
              <a:rPr dirty="0" err="1"/>
              <a:t>l'app</a:t>
            </a:r>
            <a:r>
              <a:rPr dirty="0"/>
              <a:t> </a:t>
            </a:r>
            <a:r>
              <a:rPr dirty="0" err="1"/>
              <a:t>survit</a:t>
            </a:r>
            <a:r>
              <a:rPr dirty="0"/>
              <a:t>.</a:t>
            </a:r>
          </a:p>
          <a:p>
            <a:r>
              <a:rPr dirty="0"/>
              <a:t>- Autoscaling : HPA de 3 à 10 pods </a:t>
            </a:r>
            <a:r>
              <a:rPr dirty="0" err="1"/>
              <a:t>selon</a:t>
            </a:r>
            <a:r>
              <a:rPr dirty="0"/>
              <a:t> CPU et RAM.</a:t>
            </a:r>
          </a:p>
          <a:p>
            <a:r>
              <a:rPr dirty="0"/>
              <a:t>- </a:t>
            </a:r>
            <a:r>
              <a:rPr dirty="0" err="1"/>
              <a:t>Persistance</a:t>
            </a:r>
            <a:r>
              <a:rPr dirty="0"/>
              <a:t> : PVC + backup </a:t>
            </a:r>
            <a:r>
              <a:rPr dirty="0" err="1"/>
              <a:t>quotidien</a:t>
            </a:r>
            <a:r>
              <a:rPr dirty="0"/>
              <a:t>, 30 </a:t>
            </a:r>
            <a:r>
              <a:rPr dirty="0" err="1"/>
              <a:t>jours</a:t>
            </a:r>
            <a:r>
              <a:rPr dirty="0"/>
              <a:t> de </a:t>
            </a:r>
            <a:r>
              <a:rPr dirty="0" err="1"/>
              <a:t>rétention</a:t>
            </a:r>
            <a:r>
              <a:rPr dirty="0"/>
              <a:t>.</a:t>
            </a:r>
          </a:p>
          <a:p>
            <a:r>
              <a:rPr dirty="0"/>
              <a:t>- Probes : liveness et readiness → rolling updates sans </a:t>
            </a:r>
            <a:r>
              <a:rPr dirty="0" err="1"/>
              <a:t>coupure</a:t>
            </a:r>
            <a:r>
              <a:rPr dirty="0"/>
              <a:t>.</a:t>
            </a:r>
          </a:p>
          <a:p>
            <a:r>
              <a:rPr dirty="0"/>
              <a:t>- Secrets : données </a:t>
            </a:r>
            <a:r>
              <a:rPr dirty="0" err="1"/>
              <a:t>sensibles</a:t>
            </a:r>
            <a:r>
              <a:rPr dirty="0"/>
              <a:t> via Secrets Kubernetes.</a:t>
            </a:r>
          </a:p>
          <a:p>
            <a:r>
              <a:rPr dirty="0"/>
              <a:t>- Security context : non-root, </a:t>
            </a:r>
            <a:r>
              <a:rPr dirty="0" err="1"/>
              <a:t>système</a:t>
            </a:r>
            <a:r>
              <a:rPr dirty="0"/>
              <a:t> de </a:t>
            </a:r>
            <a:r>
              <a:rPr dirty="0" err="1"/>
              <a:t>fichiers</a:t>
            </a:r>
            <a:r>
              <a:rPr dirty="0"/>
              <a:t> </a:t>
            </a:r>
            <a:r>
              <a:rPr dirty="0" err="1"/>
              <a:t>en</a:t>
            </a:r>
            <a:r>
              <a:rPr dirty="0"/>
              <a:t> lecture </a:t>
            </a:r>
            <a:r>
              <a:rPr dirty="0" err="1"/>
              <a:t>seule</a:t>
            </a:r>
            <a:r>
              <a:rPr dirty="0"/>
              <a:t>, drop de </a:t>
            </a:r>
            <a:r>
              <a:rPr dirty="0" err="1"/>
              <a:t>toutes</a:t>
            </a:r>
            <a:r>
              <a:rPr dirty="0"/>
              <a:t> les capabilities.</a:t>
            </a:r>
          </a:p>
          <a:p>
            <a:r>
              <a:rPr dirty="0" err="1"/>
              <a:t>Concrètement</a:t>
            </a:r>
            <a:r>
              <a:rPr dirty="0"/>
              <a:t> : la charge monte, </a:t>
            </a:r>
            <a:r>
              <a:rPr dirty="0" err="1"/>
              <a:t>l'HPA</a:t>
            </a:r>
            <a:r>
              <a:rPr dirty="0"/>
              <a:t> </a:t>
            </a:r>
            <a:r>
              <a:rPr dirty="0" err="1"/>
              <a:t>crée</a:t>
            </a:r>
            <a:r>
              <a:rPr dirty="0"/>
              <a:t> des pods, le scheduler les </a:t>
            </a:r>
            <a:r>
              <a:rPr dirty="0" err="1"/>
              <a:t>répartit</a:t>
            </a:r>
            <a:r>
              <a:rPr dirty="0"/>
              <a:t>, les données </a:t>
            </a:r>
            <a:r>
              <a:rPr dirty="0" err="1"/>
              <a:t>survivent</a:t>
            </a:r>
            <a:r>
              <a:rPr dirty="0"/>
              <a:t> aux </a:t>
            </a:r>
            <a:r>
              <a:rPr dirty="0" err="1"/>
              <a:t>redémarrages</a:t>
            </a:r>
            <a:r>
              <a:rPr dirty="0"/>
              <a:t> et </a:t>
            </a:r>
            <a:r>
              <a:rPr dirty="0" err="1"/>
              <a:t>sont</a:t>
            </a:r>
            <a:r>
              <a:rPr dirty="0"/>
              <a:t> </a:t>
            </a:r>
            <a:r>
              <a:rPr dirty="0" err="1"/>
              <a:t>sauvegardées</a:t>
            </a:r>
            <a:r>
              <a:rPr dirty="0"/>
              <a:t> </a:t>
            </a:r>
            <a:r>
              <a:rPr dirty="0" err="1"/>
              <a:t>chaque</a:t>
            </a:r>
            <a:r>
              <a:rPr dirty="0"/>
              <a:t> nuit.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ne pilote pas ce qu'on ne mesure pas. Stack de monitoring complète sur le nœud dédié, trois briques :</a:t>
            </a:r>
          </a:p>
          <a:p>
            <a:r>
              <a:t>- Prometheus scrape les métriques des pods et des nœuds, et celles de l'app via des ServiceMonitors ;</a:t>
            </a:r>
          </a:p>
          <a:p>
            <a:r>
              <a:t>- Alertmanager déclenche des alertes sur seuils, en haute disponibilité ;</a:t>
            </a:r>
          </a:p>
          <a:p>
            <a:r>
              <a:t>- Grafana visualise tout — métriques ET logs dans une seule interface.</a:t>
            </a:r>
          </a:p>
          <a:p>
            <a:r>
              <a:t>Pour être précis sur le réel : la stack est kube-prometheus-stack 82.16.1, avec prometheus-operator v0.89 et Grafana 12, namespace monitoring, épinglée sur node-4. Une stack récente et à jour.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complément du monitoring : centralisation des logs et console d'administration.</a:t>
            </a:r>
          </a:p>
          <a:p>
            <a:r>
              <a:t>Côté logs, Loki et Promtail. Promtail est un DaemonSet : il tourne sur chaque nœud et collecte les logs de tous les pods. Loki les indexe et les agrège, avec persistance. On les consulte dans Grafana — la source de données Loki a été ajoutée, donc logs interrogeables (par exemple par namespace). Intérêt : une seule UI, Grafana, pour métriques ET logs.</a:t>
            </a:r>
          </a:p>
          <a:p>
            <a:r>
              <a:t>Côté administration, le Kubernetes Dashboard : console web pour voir en temps réel pods, déploiements, events. Accès sécurisé (ServiceAccount admin-user, RBAC via ClusterRoleBinding + token), exposé via Ingress.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Comment on déploie de façon fiable et traçable : le GitOps avec ArgoCD.</a:t>
            </a:r>
          </a:p>
          <a:p>
            <a:r>
              <a:t>Principe : Git est la source de vérité. On décrit l'état désiré, ArgoCD réconcilie le cluster en continu. AppProject kubequest, et — point qui a demandé du travail — accès au dépôt privé protégé par SAML SSO : il a fallu un token classique explicitement autorisé pour le SSO. Helm activé dans Kustomize.</a:t>
            </a:r>
          </a:p>
          <a:p>
            <a:r>
              <a:t>Choix d'architecture assumé : l'infrastructure est découpée en 6 Applications, une par composant (nginx-ingress, cert-manager, dashboard, monitoring, logging, security), en sync manuel — volontairement, pour ne pas perturber une infra vivante.</a:t>
            </a:r>
          </a:p>
          <a:p>
            <a:r>
              <a:t>En revanche l'application Laravel est le vrai livrable GitOps : Synced / Healthy, avec auto-sync, prune et selfHeal. Tout push sur main redéploie l'app automatiquement, dans son namespace dédié. Health-check personnalisé pour les Ingress. La séparation est nette : l'app en pull automatique, l'infra sous contrôle.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sécurité en deux temps. D'abord, faire en sorte que le cluster impose lui-même les bonnes pratiques.</a:t>
            </a:r>
          </a:p>
          <a:p>
            <a:r>
              <a:t>Un validating webhook OPA / Gatekeeper : à chaque apply, l'API server consulte le webhook, qui refuse l'admission de ce qui n'est pas conforme — pod sans le label obligatoire, conteneur en root, conteneur sans limites de ressources, déploiement à moins de 2 replicas.</a:t>
            </a:r>
          </a:p>
          <a:p>
            <a:r>
              <a:t>Point de rigueur : le dépôt contenait au départ un OPA « maison » en failurePolicy Fail sur tout le cluster, sans TLS fonctionnel — le déployer aurait bloqué la création de n'importe quel pod. On l'a remplacé par Gatekeeper, l'implémentation standard et sûre (fail-open, exclut les namespaces système).</a:t>
            </a:r>
          </a:p>
          <a:p>
            <a:r>
              <a:t>À droite : le TLS avec cert-manager pour chiffrer le trafic externe, et le RBAC avec des ServiceAccounts dédiés en moindre privilège, plus les Secrets Kubernetes — jamais de mot de passe en clair.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Deuxième temps de la sécurité : qui a le droit d'accéder aux outils.</a:t>
            </a:r>
          </a:p>
          <a:p>
            <a:r>
              <a:t>Un SSO avec dex et oauth2-proxy : authentification unifiée en OIDC devant les outils d'exploitation. Concrètement, un accès à Prometheus sans être authentifié est redirigé (302) vers dex. Un seul point d'authentification, surface d'exposition réduite.</a:t>
            </a:r>
          </a:p>
          <a:p>
            <a:r>
              <a:t>L'idée générale : la défense en profondeur. On ne mise pas sur une seule barrière, on empile des couches indépendantes — basic-auth devant Prometheus, NetworkPolicies pour l'isolation réseau, OPA pour l'admission, TLS et RBAC. Aucune couche unique n'est un point de défaillance : si l'une cède, les autres tiennent.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infra, ça se dit robuste, mais surtout ça se prouve. Trois scénarios montrés en direct.</a:t>
            </a:r>
          </a:p>
          <a:p>
            <a:r>
              <a:t>- Autoscaling : on envoie ~400 requêtes/seconde avec un load-test, et on voit les pods passer de 3 à 10 en temps réel dans Grafana.</a:t>
            </a:r>
          </a:p>
          <a:p>
            <a:r>
              <a:t>- Rollback zéro-downtime : on déploie volontairement une version cassée, on constate la panne, puis on revient à la version stable sans coupure.</a:t>
            </a:r>
          </a:p>
          <a:p>
            <a:r>
              <a:t>- Sauvegardes : il manquait une StorageClass, donc le PVC de backup restait en attente ; corrigé, les backups de la base sont maintenant fonctionnels, avec le CronJob quotidien.</a:t>
            </a:r>
          </a:p>
          <a:p>
            <a:r>
              <a:t>Message : chaos maîtrisé. Charge, panne, version cassée — pour chaque cas, on montre le comportement du cluster, en direct, dans le monitoring.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 Partis d'une application Laravel en docker-compose, on livre une infrastructure de production de bout en bout :</a:t>
            </a:r>
          </a:p>
          <a:p>
            <a:r>
              <a:t>- un socle entièrement en Terraform : 4 EC2, VPC, Security Groups ;</a:t>
            </a:r>
          </a:p>
          <a:p>
            <a:r>
              <a:t>- un cluster Kubernetes v1.31 monté à la main, containerd et Calico ;</a:t>
            </a:r>
          </a:p>
          <a:p>
            <a:r>
              <a:t>- une livraison industrialisée : Helm et GitOps avec ArgoCD en auto-sync sur l'application ;</a:t>
            </a:r>
          </a:p>
          <a:p>
            <a:r>
              <a:t>- une observabilité complète : Prometheus, Grafana, Loki, Dashboard ;</a:t>
            </a:r>
          </a:p>
          <a:p>
            <a:r>
              <a:t>- de la résilience : autoscaling, anti-affinité, PodDisruptionBudget, sauvegardes ;</a:t>
            </a:r>
          </a:p>
          <a:p>
            <a:r>
              <a:t>- une sécurité multi-couches : OPA, TLS, RBAC, SSO, NetworkPolicies.</a:t>
            </a:r>
          </a:p>
          <a:p>
            <a:r>
              <a:t>En un mot : on a traité ce projet comme une vraie infrastructure de production, pas comme un exercice. Merci — on est prêts pour vos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
            <a:ext cx="12191695" cy="3657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411480"/>
          </a:xfrm>
          <a:prstGeom prst="rect">
            <a:avLst/>
          </a:prstGeom>
          <a:noFill/>
        </p:spPr>
        <p:txBody>
          <a:bodyPr wrap="square" lIns="0" tIns="0" rIns="0" bIns="0" anchor="t">
            <a:spAutoFit/>
          </a:bodyPr>
          <a:lstStyle/>
          <a:p>
            <a:pPr algn="l"/>
            <a:r>
              <a:rPr sz="1500" b="1" i="0">
                <a:solidFill>
                  <a:srgbClr val="38BDF8"/>
                </a:solidFill>
                <a:latin typeface="Segoe UI"/>
              </a:rPr>
              <a:t>INFRASTRUCTURE &amp; PLATEFORME CLOUD</a:t>
            </a:r>
          </a:p>
        </p:txBody>
      </p:sp>
      <p:sp>
        <p:nvSpPr>
          <p:cNvPr id="5" name="TextBox 4"/>
          <p:cNvSpPr txBox="1"/>
          <p:nvPr/>
        </p:nvSpPr>
        <p:spPr>
          <a:xfrm>
            <a:off x="822960" y="1828800"/>
            <a:ext cx="10607040" cy="1371600"/>
          </a:xfrm>
          <a:prstGeom prst="rect">
            <a:avLst/>
          </a:prstGeom>
          <a:noFill/>
        </p:spPr>
        <p:txBody>
          <a:bodyPr wrap="square" lIns="0" tIns="0" rIns="0" bIns="0" anchor="t">
            <a:spAutoFit/>
          </a:bodyPr>
          <a:lstStyle/>
          <a:p>
            <a:pPr algn="l"/>
            <a:r>
              <a:rPr sz="5400" b="1" i="0">
                <a:solidFill>
                  <a:srgbClr val="FFFFFF"/>
                </a:solidFill>
                <a:latin typeface="Segoe UI"/>
              </a:rPr>
              <a:t>KubeQuest</a:t>
            </a:r>
          </a:p>
          <a:p>
            <a:pPr algn="l"/>
            <a:r>
              <a:rPr sz="2200" b="0" i="0">
                <a:solidFill>
                  <a:srgbClr val="E2E8F0"/>
                </a:solidFill>
                <a:latin typeface="Segoe UI"/>
              </a:rPr>
              <a:t>Déploiement d'une application Laravel sur un cluster</a:t>
            </a:r>
          </a:p>
          <a:p>
            <a:pPr algn="l"/>
            <a:r>
              <a:rPr sz="2200" b="0" i="0">
                <a:solidFill>
                  <a:srgbClr val="E2E8F0"/>
                </a:solidFill>
                <a:latin typeface="Segoe UI"/>
              </a:rPr>
              <a:t>Kubernetes multi-nœuds en production sur AWS</a:t>
            </a:r>
          </a:p>
        </p:txBody>
      </p:sp>
      <p:sp>
        <p:nvSpPr>
          <p:cNvPr id="6" name="Rounded Rectangle 5"/>
          <p:cNvSpPr/>
          <p:nvPr/>
        </p:nvSpPr>
        <p:spPr>
          <a:xfrm>
            <a:off x="822960" y="3977639"/>
            <a:ext cx="1664207"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977639"/>
            <a:ext cx="1664207" cy="411480"/>
          </a:xfrm>
          <a:prstGeom prst="rect">
            <a:avLst/>
          </a:prstGeom>
          <a:noFill/>
        </p:spPr>
        <p:txBody>
          <a:bodyPr wrap="square" lIns="0" tIns="0" rIns="0" bIns="0" anchor="ctr">
            <a:spAutoFit/>
          </a:bodyPr>
          <a:lstStyle/>
          <a:p>
            <a:pPr algn="ctr"/>
            <a:r>
              <a:rPr sz="1100" b="1" i="0">
                <a:solidFill>
                  <a:srgbClr val="E2E8F0"/>
                </a:solidFill>
                <a:latin typeface="Segoe UI"/>
              </a:rPr>
              <a:t>4 nœuds AWS EC2</a:t>
            </a:r>
          </a:p>
        </p:txBody>
      </p:sp>
      <p:sp>
        <p:nvSpPr>
          <p:cNvPr id="8" name="Rounded Rectangle 7"/>
          <p:cNvSpPr/>
          <p:nvPr/>
        </p:nvSpPr>
        <p:spPr>
          <a:xfrm>
            <a:off x="2651759" y="3977639"/>
            <a:ext cx="1753819"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51759" y="3977639"/>
            <a:ext cx="1753819" cy="411480"/>
          </a:xfrm>
          <a:prstGeom prst="rect">
            <a:avLst/>
          </a:prstGeom>
          <a:noFill/>
        </p:spPr>
        <p:txBody>
          <a:bodyPr wrap="square" lIns="0" tIns="0" rIns="0" bIns="0" anchor="ctr">
            <a:spAutoFit/>
          </a:bodyPr>
          <a:lstStyle/>
          <a:p>
            <a:pPr algn="ctr"/>
            <a:r>
              <a:rPr sz="1100" b="1" i="0">
                <a:solidFill>
                  <a:srgbClr val="E2E8F0"/>
                </a:solidFill>
                <a:latin typeface="Segoe UI"/>
              </a:rPr>
              <a:t>Kubernetes v1.31</a:t>
            </a:r>
          </a:p>
        </p:txBody>
      </p:sp>
      <p:sp>
        <p:nvSpPr>
          <p:cNvPr id="10" name="Rounded Rectangle 9"/>
          <p:cNvSpPr/>
          <p:nvPr/>
        </p:nvSpPr>
        <p:spPr>
          <a:xfrm>
            <a:off x="4570170" y="3977639"/>
            <a:ext cx="1126540"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0170" y="3977639"/>
            <a:ext cx="1126540" cy="411480"/>
          </a:xfrm>
          <a:prstGeom prst="rect">
            <a:avLst/>
          </a:prstGeom>
          <a:noFill/>
        </p:spPr>
        <p:txBody>
          <a:bodyPr wrap="square" lIns="0" tIns="0" rIns="0" bIns="0" anchor="ctr">
            <a:spAutoFit/>
          </a:bodyPr>
          <a:lstStyle/>
          <a:p>
            <a:pPr algn="ctr"/>
            <a:r>
              <a:rPr sz="1100" b="1" i="0">
                <a:solidFill>
                  <a:srgbClr val="E2E8F0"/>
                </a:solidFill>
                <a:latin typeface="Segoe UI"/>
              </a:rPr>
              <a:t>Terraform</a:t>
            </a:r>
          </a:p>
        </p:txBody>
      </p:sp>
      <p:sp>
        <p:nvSpPr>
          <p:cNvPr id="12" name="Rounded Rectangle 11"/>
          <p:cNvSpPr/>
          <p:nvPr/>
        </p:nvSpPr>
        <p:spPr>
          <a:xfrm>
            <a:off x="5861302" y="3977639"/>
            <a:ext cx="678484"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61302" y="3977639"/>
            <a:ext cx="678484" cy="411480"/>
          </a:xfrm>
          <a:prstGeom prst="rect">
            <a:avLst/>
          </a:prstGeom>
          <a:noFill/>
        </p:spPr>
        <p:txBody>
          <a:bodyPr wrap="square" lIns="0" tIns="0" rIns="0" bIns="0" anchor="ctr">
            <a:spAutoFit/>
          </a:bodyPr>
          <a:lstStyle/>
          <a:p>
            <a:pPr algn="ctr"/>
            <a:r>
              <a:rPr sz="1100" b="1" i="0">
                <a:solidFill>
                  <a:srgbClr val="E2E8F0"/>
                </a:solidFill>
                <a:latin typeface="Segoe UI"/>
              </a:rPr>
              <a:t>Helm</a:t>
            </a:r>
          </a:p>
        </p:txBody>
      </p:sp>
      <p:sp>
        <p:nvSpPr>
          <p:cNvPr id="14" name="Rounded Rectangle 13"/>
          <p:cNvSpPr/>
          <p:nvPr/>
        </p:nvSpPr>
        <p:spPr>
          <a:xfrm>
            <a:off x="6704378" y="3977639"/>
            <a:ext cx="1664207"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04378" y="3977639"/>
            <a:ext cx="1664207" cy="411480"/>
          </a:xfrm>
          <a:prstGeom prst="rect">
            <a:avLst/>
          </a:prstGeom>
          <a:noFill/>
        </p:spPr>
        <p:txBody>
          <a:bodyPr wrap="square" lIns="0" tIns="0" rIns="0" bIns="0" anchor="ctr">
            <a:spAutoFit/>
          </a:bodyPr>
          <a:lstStyle/>
          <a:p>
            <a:pPr algn="ctr"/>
            <a:r>
              <a:rPr sz="1100" b="1" i="0">
                <a:solidFill>
                  <a:srgbClr val="E2E8F0"/>
                </a:solidFill>
                <a:latin typeface="Segoe UI"/>
              </a:rPr>
              <a:t>ArgoCD / GitOps</a:t>
            </a:r>
          </a:p>
        </p:txBody>
      </p:sp>
      <p:sp>
        <p:nvSpPr>
          <p:cNvPr id="16" name="Rounded Rectangle 15"/>
          <p:cNvSpPr/>
          <p:nvPr/>
        </p:nvSpPr>
        <p:spPr>
          <a:xfrm>
            <a:off x="8533177" y="3977639"/>
            <a:ext cx="2739542"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3177" y="3977639"/>
            <a:ext cx="2739542" cy="411480"/>
          </a:xfrm>
          <a:prstGeom prst="rect">
            <a:avLst/>
          </a:prstGeom>
          <a:noFill/>
        </p:spPr>
        <p:txBody>
          <a:bodyPr wrap="square" lIns="0" tIns="0" rIns="0" bIns="0" anchor="ctr">
            <a:spAutoFit/>
          </a:bodyPr>
          <a:lstStyle/>
          <a:p>
            <a:pPr algn="ctr"/>
            <a:r>
              <a:rPr sz="1100" b="1" i="0">
                <a:solidFill>
                  <a:srgbClr val="E2E8F0"/>
                </a:solidFill>
                <a:latin typeface="Segoe UI"/>
              </a:rPr>
              <a:t>Prometheus · Grafana · Loki</a:t>
            </a:r>
          </a:p>
        </p:txBody>
      </p:sp>
      <p:sp>
        <p:nvSpPr>
          <p:cNvPr id="18" name="Rounded Rectangle 17"/>
          <p:cNvSpPr/>
          <p:nvPr/>
        </p:nvSpPr>
        <p:spPr>
          <a:xfrm>
            <a:off x="822960" y="4544567"/>
            <a:ext cx="1933041" cy="411480"/>
          </a:xfrm>
          <a:prstGeom prst="roundRect">
            <a:avLst>
              <a:gd name="adj" fmla="val 6000"/>
            </a:avLst>
          </a:prstGeom>
          <a:solidFill>
            <a:srgbClr val="1B263B"/>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544567"/>
            <a:ext cx="1933041" cy="411480"/>
          </a:xfrm>
          <a:prstGeom prst="rect">
            <a:avLst/>
          </a:prstGeom>
          <a:noFill/>
        </p:spPr>
        <p:txBody>
          <a:bodyPr wrap="square" lIns="0" tIns="0" rIns="0" bIns="0" anchor="ctr">
            <a:spAutoFit/>
          </a:bodyPr>
          <a:lstStyle/>
          <a:p>
            <a:pPr algn="ctr"/>
            <a:r>
              <a:rPr sz="1100" b="1" i="0">
                <a:solidFill>
                  <a:srgbClr val="E2E8F0"/>
                </a:solidFill>
                <a:latin typeface="Segoe UI"/>
              </a:rPr>
              <a:t>OPA · cert-manager</a:t>
            </a:r>
          </a:p>
        </p:txBody>
      </p:sp>
      <p:sp>
        <p:nvSpPr>
          <p:cNvPr id="20" name="Rectangle 19"/>
          <p:cNvSpPr/>
          <p:nvPr/>
        </p:nvSpPr>
        <p:spPr>
          <a:xfrm>
            <a:off x="822960" y="5623560"/>
            <a:ext cx="3291840" cy="1905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5760720"/>
            <a:ext cx="10515600" cy="731520"/>
          </a:xfrm>
          <a:prstGeom prst="rect">
            <a:avLst/>
          </a:prstGeom>
          <a:noFill/>
        </p:spPr>
        <p:txBody>
          <a:bodyPr wrap="square" lIns="0" tIns="0" rIns="0" bIns="0" anchor="t">
            <a:spAutoFit/>
          </a:bodyPr>
          <a:lstStyle/>
          <a:p>
            <a:pPr algn="l"/>
            <a:r>
              <a:rPr sz="1400" b="1" i="0">
                <a:solidFill>
                  <a:srgbClr val="FFFFFF"/>
                </a:solidFill>
                <a:latin typeface="Segoe UI"/>
              </a:rPr>
              <a:t>Groupe 50</a:t>
            </a:r>
            <a:r>
              <a:rPr sz="1400" b="0" i="0">
                <a:solidFill>
                  <a:srgbClr val="93A3B8"/>
                </a:solidFill>
                <a:latin typeface="Segoe UI"/>
              </a:rPr>
              <a:t>   —   Liora Toledano  ·  Zeyu Hou  ·  Nathan Han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ARCHITECTURE</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Cluster 4 nœuds spécialisés — le chemin d'une requête</a:t>
            </a:r>
          </a:p>
        </p:txBody>
      </p:sp>
      <p:sp>
        <p:nvSpPr>
          <p:cNvPr id="5" name="TextBox 4"/>
          <p:cNvSpPr txBox="1"/>
          <p:nvPr/>
        </p:nvSpPr>
        <p:spPr>
          <a:xfrm>
            <a:off x="731520" y="1600200"/>
            <a:ext cx="10698480" cy="365760"/>
          </a:xfrm>
          <a:prstGeom prst="rect">
            <a:avLst/>
          </a:prstGeom>
          <a:noFill/>
        </p:spPr>
        <p:txBody>
          <a:bodyPr wrap="square" lIns="0" tIns="0" rIns="0" bIns="0" anchor="t">
            <a:spAutoFit/>
          </a:bodyPr>
          <a:lstStyle/>
          <a:p>
            <a:pPr algn="ctr"/>
            <a:r>
              <a:rPr sz="1300" b="1" i="0">
                <a:solidFill>
                  <a:srgbClr val="93A3B8"/>
                </a:solidFill>
                <a:latin typeface="Segoe UI"/>
              </a:rPr>
              <a:t>🌐  Internet / Utilisateur</a:t>
            </a:r>
          </a:p>
        </p:txBody>
      </p:sp>
      <p:sp>
        <p:nvSpPr>
          <p:cNvPr id="6" name="Rounded Rectangle 5"/>
          <p:cNvSpPr/>
          <p:nvPr/>
        </p:nvSpPr>
        <p:spPr>
          <a:xfrm>
            <a:off x="502920" y="2148840"/>
            <a:ext cx="2724912" cy="25146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2148840"/>
            <a:ext cx="2724912" cy="8229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2350008"/>
            <a:ext cx="2450592" cy="457200"/>
          </a:xfrm>
          <a:prstGeom prst="rect">
            <a:avLst/>
          </a:prstGeom>
          <a:noFill/>
        </p:spPr>
        <p:txBody>
          <a:bodyPr wrap="square" lIns="0" tIns="0" rIns="0" bIns="0" anchor="t">
            <a:spAutoFit/>
          </a:bodyPr>
          <a:lstStyle/>
          <a:p>
            <a:pPr algn="l"/>
            <a:r>
              <a:rPr sz="1300" b="1" i="0">
                <a:solidFill>
                  <a:srgbClr val="FFFFFF"/>
                </a:solidFill>
                <a:latin typeface="Segoe UI"/>
              </a:rPr>
              <a:t>node-3 · INGRESS</a:t>
            </a:r>
          </a:p>
          <a:p>
            <a:pPr algn="l"/>
            <a:r>
              <a:rPr sz="1050" b="1" i="0">
                <a:solidFill>
                  <a:srgbClr val="326CE5"/>
                </a:solidFill>
                <a:latin typeface="Segoe UI"/>
              </a:rPr>
              <a:t>Porte d'entrée</a:t>
            </a:r>
          </a:p>
        </p:txBody>
      </p:sp>
      <p:sp>
        <p:nvSpPr>
          <p:cNvPr id="9" name="TextBox 8"/>
          <p:cNvSpPr txBox="1"/>
          <p:nvPr/>
        </p:nvSpPr>
        <p:spPr>
          <a:xfrm>
            <a:off x="649224" y="3081528"/>
            <a:ext cx="2450592" cy="1463040"/>
          </a:xfrm>
          <a:prstGeom prst="rect">
            <a:avLst/>
          </a:prstGeom>
          <a:noFill/>
        </p:spPr>
        <p:txBody>
          <a:bodyPr wrap="square" lIns="0" tIns="0" rIns="0" bIns="0" anchor="t">
            <a:spAutoFit/>
          </a:bodyPr>
          <a:lstStyle/>
          <a:p>
            <a:pPr algn="l">
              <a:lnSpc>
                <a:spcPct val="105000"/>
              </a:lnSpc>
              <a:spcAft>
                <a:spcPts val="600"/>
              </a:spcAft>
            </a:pPr>
            <a:r>
              <a:rPr sz="1050" b="1" i="0">
                <a:solidFill>
                  <a:srgbClr val="326CE5"/>
                </a:solidFill>
                <a:latin typeface="Segoe UI"/>
              </a:rPr>
              <a:t>• </a:t>
            </a:r>
            <a:r>
              <a:rPr sz="1050" b="0" i="0">
                <a:solidFill>
                  <a:srgbClr val="E2E8F0"/>
                </a:solidFill>
                <a:latin typeface="Segoe UI"/>
              </a:rPr>
              <a:t>nginx-ingress controller</a:t>
            </a:r>
          </a:p>
          <a:p>
            <a:pPr algn="l">
              <a:lnSpc>
                <a:spcPct val="105000"/>
              </a:lnSpc>
              <a:spcAft>
                <a:spcPts val="600"/>
              </a:spcAft>
            </a:pPr>
            <a:r>
              <a:rPr sz="1050" b="1" i="0">
                <a:solidFill>
                  <a:srgbClr val="326CE5"/>
                </a:solidFill>
                <a:latin typeface="Segoe UI"/>
              </a:rPr>
              <a:t>• </a:t>
            </a:r>
            <a:r>
              <a:rPr sz="1050" b="0" i="0">
                <a:solidFill>
                  <a:srgbClr val="E2E8F0"/>
                </a:solidFill>
                <a:latin typeface="Segoe UI"/>
              </a:rPr>
              <a:t>TLS via cert-manager</a:t>
            </a:r>
          </a:p>
          <a:p>
            <a:pPr algn="l">
              <a:lnSpc>
                <a:spcPct val="105000"/>
              </a:lnSpc>
              <a:spcAft>
                <a:spcPts val="600"/>
              </a:spcAft>
            </a:pPr>
            <a:r>
              <a:rPr sz="1050" b="1" i="0">
                <a:solidFill>
                  <a:srgbClr val="326CE5"/>
                </a:solidFill>
                <a:latin typeface="Segoe UI"/>
              </a:rPr>
              <a:t>• </a:t>
            </a:r>
            <a:r>
              <a:rPr sz="1050" b="0" i="0">
                <a:solidFill>
                  <a:srgbClr val="E2E8F0"/>
                </a:solidFill>
                <a:latin typeface="Segoe UI"/>
              </a:rPr>
              <a:t>NodePort 32222 (fallback LB)</a:t>
            </a:r>
          </a:p>
        </p:txBody>
      </p:sp>
      <p:sp>
        <p:nvSpPr>
          <p:cNvPr id="10" name="Rounded Rectangle 9"/>
          <p:cNvSpPr/>
          <p:nvPr/>
        </p:nvSpPr>
        <p:spPr>
          <a:xfrm>
            <a:off x="3346704" y="2148840"/>
            <a:ext cx="2724912" cy="25146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46704" y="2148840"/>
            <a:ext cx="2724912"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93008" y="2350008"/>
            <a:ext cx="2450592" cy="457200"/>
          </a:xfrm>
          <a:prstGeom prst="rect">
            <a:avLst/>
          </a:prstGeom>
          <a:noFill/>
        </p:spPr>
        <p:txBody>
          <a:bodyPr wrap="square" lIns="0" tIns="0" rIns="0" bIns="0" anchor="t">
            <a:spAutoFit/>
          </a:bodyPr>
          <a:lstStyle/>
          <a:p>
            <a:pPr algn="l"/>
            <a:r>
              <a:rPr sz="1300" b="1" i="0">
                <a:solidFill>
                  <a:srgbClr val="FFFFFF"/>
                </a:solidFill>
                <a:latin typeface="Segoe UI"/>
              </a:rPr>
              <a:t>node-1 · CONTROL PLANE</a:t>
            </a:r>
          </a:p>
          <a:p>
            <a:pPr algn="l"/>
            <a:r>
              <a:rPr sz="1050" b="1" i="0">
                <a:solidFill>
                  <a:srgbClr val="38BDF8"/>
                </a:solidFill>
                <a:latin typeface="Segoe UI"/>
              </a:rPr>
              <a:t>Le cerveau (+ worker)</a:t>
            </a:r>
          </a:p>
        </p:txBody>
      </p:sp>
      <p:sp>
        <p:nvSpPr>
          <p:cNvPr id="13" name="TextBox 12"/>
          <p:cNvSpPr txBox="1"/>
          <p:nvPr/>
        </p:nvSpPr>
        <p:spPr>
          <a:xfrm>
            <a:off x="3493008" y="3081528"/>
            <a:ext cx="2450592" cy="1463040"/>
          </a:xfrm>
          <a:prstGeom prst="rect">
            <a:avLst/>
          </a:prstGeom>
          <a:noFill/>
        </p:spPr>
        <p:txBody>
          <a:bodyPr wrap="square" lIns="0" tIns="0" rIns="0" bIns="0" anchor="t">
            <a:spAutoFit/>
          </a:bodyPr>
          <a:lstStyle/>
          <a:p>
            <a:pPr algn="l">
              <a:lnSpc>
                <a:spcPct val="105000"/>
              </a:lnSpc>
              <a:spcAft>
                <a:spcPts val="600"/>
              </a:spcAft>
            </a:pPr>
            <a:r>
              <a:rPr sz="1050" b="1" i="0">
                <a:solidFill>
                  <a:srgbClr val="38BDF8"/>
                </a:solidFill>
                <a:latin typeface="Segoe UI"/>
              </a:rPr>
              <a:t>• </a:t>
            </a:r>
            <a:r>
              <a:rPr sz="1050" b="0" i="0">
                <a:solidFill>
                  <a:srgbClr val="E2E8F0"/>
                </a:solidFill>
                <a:latin typeface="Segoe UI"/>
              </a:rPr>
              <a:t>kube-apiserver · etcd</a:t>
            </a:r>
          </a:p>
          <a:p>
            <a:pPr algn="l">
              <a:lnSpc>
                <a:spcPct val="105000"/>
              </a:lnSpc>
              <a:spcAft>
                <a:spcPts val="600"/>
              </a:spcAft>
            </a:pPr>
            <a:r>
              <a:rPr sz="1050" b="1" i="0">
                <a:solidFill>
                  <a:srgbClr val="38BDF8"/>
                </a:solidFill>
                <a:latin typeface="Segoe UI"/>
              </a:rPr>
              <a:t>• </a:t>
            </a:r>
            <a:r>
              <a:rPr sz="1050" b="0" i="0">
                <a:solidFill>
                  <a:srgbClr val="E2E8F0"/>
                </a:solidFill>
                <a:latin typeface="Segoe UI"/>
              </a:rPr>
              <a:t>scheduler · controller-mgr</a:t>
            </a:r>
          </a:p>
          <a:p>
            <a:pPr algn="l">
              <a:lnSpc>
                <a:spcPct val="105000"/>
              </a:lnSpc>
              <a:spcAft>
                <a:spcPts val="600"/>
              </a:spcAft>
            </a:pPr>
            <a:r>
              <a:rPr sz="1050" b="1" i="0">
                <a:solidFill>
                  <a:srgbClr val="38BDF8"/>
                </a:solidFill>
                <a:latin typeface="Segoe UI"/>
              </a:rPr>
              <a:t>• </a:t>
            </a:r>
            <a:r>
              <a:rPr sz="1050" b="0" i="0">
                <a:solidFill>
                  <a:srgbClr val="E2E8F0"/>
                </a:solidFill>
                <a:latin typeface="Segoe UI"/>
              </a:rPr>
              <a:t>Calico CNI · Dashboard</a:t>
            </a:r>
          </a:p>
        </p:txBody>
      </p:sp>
      <p:sp>
        <p:nvSpPr>
          <p:cNvPr id="14" name="Rounded Rectangle 13"/>
          <p:cNvSpPr/>
          <p:nvPr/>
        </p:nvSpPr>
        <p:spPr>
          <a:xfrm>
            <a:off x="6190488" y="2148840"/>
            <a:ext cx="2724912" cy="25146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90488" y="2148840"/>
            <a:ext cx="2724912" cy="82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36792" y="2350008"/>
            <a:ext cx="2450592" cy="457200"/>
          </a:xfrm>
          <a:prstGeom prst="rect">
            <a:avLst/>
          </a:prstGeom>
          <a:noFill/>
        </p:spPr>
        <p:txBody>
          <a:bodyPr wrap="square" lIns="0" tIns="0" rIns="0" bIns="0" anchor="t">
            <a:spAutoFit/>
          </a:bodyPr>
          <a:lstStyle/>
          <a:p>
            <a:pPr algn="l"/>
            <a:r>
              <a:rPr sz="1300" b="1" i="0">
                <a:solidFill>
                  <a:srgbClr val="FFFFFF"/>
                </a:solidFill>
                <a:latin typeface="Segoe UI"/>
              </a:rPr>
              <a:t>node-2 · WORKER</a:t>
            </a:r>
          </a:p>
          <a:p>
            <a:pPr algn="l"/>
            <a:r>
              <a:rPr sz="1050" b="1" i="0">
                <a:solidFill>
                  <a:srgbClr val="22C55E"/>
                </a:solidFill>
                <a:latin typeface="Segoe UI"/>
              </a:rPr>
              <a:t>Le métier</a:t>
            </a:r>
          </a:p>
        </p:txBody>
      </p:sp>
      <p:sp>
        <p:nvSpPr>
          <p:cNvPr id="17" name="TextBox 16"/>
          <p:cNvSpPr txBox="1"/>
          <p:nvPr/>
        </p:nvSpPr>
        <p:spPr>
          <a:xfrm>
            <a:off x="6336792" y="3081528"/>
            <a:ext cx="2450592" cy="1463040"/>
          </a:xfrm>
          <a:prstGeom prst="rect">
            <a:avLst/>
          </a:prstGeom>
          <a:noFill/>
        </p:spPr>
        <p:txBody>
          <a:bodyPr wrap="square" lIns="0" tIns="0" rIns="0" bIns="0" anchor="t">
            <a:spAutoFit/>
          </a:bodyPr>
          <a:lstStyle/>
          <a:p>
            <a:pPr algn="l">
              <a:lnSpc>
                <a:spcPct val="105000"/>
              </a:lnSpc>
              <a:spcAft>
                <a:spcPts val="600"/>
              </a:spcAft>
            </a:pPr>
            <a:r>
              <a:rPr sz="1050" b="1" i="0">
                <a:solidFill>
                  <a:srgbClr val="22C55E"/>
                </a:solidFill>
                <a:latin typeface="Segoe UI"/>
              </a:rPr>
              <a:t>• </a:t>
            </a:r>
            <a:r>
              <a:rPr sz="1050" b="0" i="0">
                <a:solidFill>
                  <a:srgbClr val="E2E8F0"/>
                </a:solidFill>
                <a:latin typeface="Segoe UI"/>
              </a:rPr>
              <a:t>App Laravel ×3 (HPA 3→10)</a:t>
            </a:r>
          </a:p>
          <a:p>
            <a:pPr algn="l">
              <a:lnSpc>
                <a:spcPct val="105000"/>
              </a:lnSpc>
              <a:spcAft>
                <a:spcPts val="600"/>
              </a:spcAft>
            </a:pPr>
            <a:r>
              <a:rPr sz="1050" b="1" i="0">
                <a:solidFill>
                  <a:srgbClr val="22C55E"/>
                </a:solidFill>
                <a:latin typeface="Segoe UI"/>
              </a:rPr>
              <a:t>• </a:t>
            </a:r>
            <a:r>
              <a:rPr sz="1050" b="0" i="0">
                <a:solidFill>
                  <a:srgbClr val="E2E8F0"/>
                </a:solidFill>
                <a:latin typeface="Segoe UI"/>
              </a:rPr>
              <a:t>Base de données + PVC</a:t>
            </a:r>
          </a:p>
          <a:p>
            <a:pPr algn="l">
              <a:lnSpc>
                <a:spcPct val="105000"/>
              </a:lnSpc>
              <a:spcAft>
                <a:spcPts val="600"/>
              </a:spcAft>
            </a:pPr>
            <a:r>
              <a:rPr sz="1050" b="1" i="0">
                <a:solidFill>
                  <a:srgbClr val="22C55E"/>
                </a:solidFill>
                <a:latin typeface="Segoe UI"/>
              </a:rPr>
              <a:t>• </a:t>
            </a:r>
            <a:r>
              <a:rPr sz="1050" b="0" i="0">
                <a:solidFill>
                  <a:srgbClr val="E2E8F0"/>
                </a:solidFill>
                <a:latin typeface="Segoe UI"/>
              </a:rPr>
              <a:t>Backup quotidien</a:t>
            </a:r>
          </a:p>
        </p:txBody>
      </p:sp>
      <p:sp>
        <p:nvSpPr>
          <p:cNvPr id="18" name="Rounded Rectangle 17"/>
          <p:cNvSpPr/>
          <p:nvPr/>
        </p:nvSpPr>
        <p:spPr>
          <a:xfrm>
            <a:off x="9034272" y="2148840"/>
            <a:ext cx="2724912" cy="25146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34272" y="2148840"/>
            <a:ext cx="272491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0576" y="2350008"/>
            <a:ext cx="2450592" cy="457200"/>
          </a:xfrm>
          <a:prstGeom prst="rect">
            <a:avLst/>
          </a:prstGeom>
          <a:noFill/>
        </p:spPr>
        <p:txBody>
          <a:bodyPr wrap="square" lIns="0" tIns="0" rIns="0" bIns="0" anchor="t">
            <a:spAutoFit/>
          </a:bodyPr>
          <a:lstStyle/>
          <a:p>
            <a:pPr algn="l"/>
            <a:r>
              <a:rPr sz="1300" b="1" i="0">
                <a:solidFill>
                  <a:srgbClr val="FFFFFF"/>
                </a:solidFill>
                <a:latin typeface="Segoe UI"/>
              </a:rPr>
              <a:t>node-4 · MONITORING</a:t>
            </a:r>
          </a:p>
          <a:p>
            <a:pPr algn="l"/>
            <a:r>
              <a:rPr sz="1050" b="1" i="0">
                <a:solidFill>
                  <a:srgbClr val="F59E0B"/>
                </a:solidFill>
                <a:latin typeface="Segoe UI"/>
              </a:rPr>
              <a:t>Observabilité</a:t>
            </a:r>
          </a:p>
        </p:txBody>
      </p:sp>
      <p:sp>
        <p:nvSpPr>
          <p:cNvPr id="21" name="TextBox 20"/>
          <p:cNvSpPr txBox="1"/>
          <p:nvPr/>
        </p:nvSpPr>
        <p:spPr>
          <a:xfrm>
            <a:off x="9180576" y="3081528"/>
            <a:ext cx="2450592" cy="1463040"/>
          </a:xfrm>
          <a:prstGeom prst="rect">
            <a:avLst/>
          </a:prstGeom>
          <a:noFill/>
        </p:spPr>
        <p:txBody>
          <a:bodyPr wrap="square" lIns="0" tIns="0" rIns="0" bIns="0" anchor="t">
            <a:spAutoFit/>
          </a:bodyPr>
          <a:lstStyle/>
          <a:p>
            <a:pPr algn="l">
              <a:lnSpc>
                <a:spcPct val="105000"/>
              </a:lnSpc>
              <a:spcAft>
                <a:spcPts val="600"/>
              </a:spcAft>
            </a:pPr>
            <a:r>
              <a:rPr sz="1050" b="1" i="0">
                <a:solidFill>
                  <a:srgbClr val="F59E0B"/>
                </a:solidFill>
                <a:latin typeface="Segoe UI"/>
              </a:rPr>
              <a:t>• </a:t>
            </a:r>
            <a:r>
              <a:rPr sz="1050" b="0" i="0">
                <a:solidFill>
                  <a:srgbClr val="E2E8F0"/>
                </a:solidFill>
                <a:latin typeface="Segoe UI"/>
              </a:rPr>
              <a:t>Prometheus · Alertmanager</a:t>
            </a:r>
          </a:p>
          <a:p>
            <a:pPr algn="l">
              <a:lnSpc>
                <a:spcPct val="105000"/>
              </a:lnSpc>
              <a:spcAft>
                <a:spcPts val="600"/>
              </a:spcAft>
            </a:pPr>
            <a:r>
              <a:rPr sz="1050" b="1" i="0">
                <a:solidFill>
                  <a:srgbClr val="F59E0B"/>
                </a:solidFill>
                <a:latin typeface="Segoe UI"/>
              </a:rPr>
              <a:t>• </a:t>
            </a:r>
            <a:r>
              <a:rPr sz="1050" b="0" i="0">
                <a:solidFill>
                  <a:srgbClr val="E2E8F0"/>
                </a:solidFill>
                <a:latin typeface="Segoe UI"/>
              </a:rPr>
              <a:t>Grafana</a:t>
            </a:r>
          </a:p>
          <a:p>
            <a:pPr algn="l">
              <a:lnSpc>
                <a:spcPct val="105000"/>
              </a:lnSpc>
              <a:spcAft>
                <a:spcPts val="600"/>
              </a:spcAft>
            </a:pPr>
            <a:r>
              <a:rPr sz="1050" b="1" i="0">
                <a:solidFill>
                  <a:srgbClr val="F59E0B"/>
                </a:solidFill>
                <a:latin typeface="Segoe UI"/>
              </a:rPr>
              <a:t>• </a:t>
            </a:r>
            <a:r>
              <a:rPr sz="1050" b="0" i="0">
                <a:solidFill>
                  <a:srgbClr val="E2E8F0"/>
                </a:solidFill>
                <a:latin typeface="Segoe UI"/>
              </a:rPr>
              <a:t>Loki + Promtail</a:t>
            </a:r>
          </a:p>
        </p:txBody>
      </p:sp>
      <p:sp>
        <p:nvSpPr>
          <p:cNvPr id="22" name="TextBox 21"/>
          <p:cNvSpPr txBox="1"/>
          <p:nvPr/>
        </p:nvSpPr>
        <p:spPr>
          <a:xfrm>
            <a:off x="502920" y="4892040"/>
            <a:ext cx="11155680" cy="365760"/>
          </a:xfrm>
          <a:prstGeom prst="rect">
            <a:avLst/>
          </a:prstGeom>
          <a:noFill/>
        </p:spPr>
        <p:txBody>
          <a:bodyPr wrap="square" lIns="0" tIns="0" rIns="0" bIns="0" anchor="t">
            <a:spAutoFit/>
          </a:bodyPr>
          <a:lstStyle/>
          <a:p>
            <a:pPr algn="l"/>
            <a:r>
              <a:rPr sz="1200" b="1" i="0">
                <a:solidFill>
                  <a:srgbClr val="93A3B8"/>
                </a:solidFill>
                <a:latin typeface="Segoe UI"/>
              </a:rPr>
              <a:t>Flux applicatif :  </a:t>
            </a:r>
            <a:r>
              <a:rPr sz="1200" b="0" i="0">
                <a:solidFill>
                  <a:srgbClr val="E2E8F0"/>
                </a:solidFill>
                <a:latin typeface="Segoe UI"/>
              </a:rPr>
              <a:t>Utilisateur → nginx-ingress → Service → Pod Laravel → Base de données</a:t>
            </a:r>
          </a:p>
        </p:txBody>
      </p:sp>
      <p:sp>
        <p:nvSpPr>
          <p:cNvPr id="23" name="TextBox 22"/>
          <p:cNvSpPr txBox="1"/>
          <p:nvPr/>
        </p:nvSpPr>
        <p:spPr>
          <a:xfrm>
            <a:off x="502920" y="5257800"/>
            <a:ext cx="11155680" cy="365760"/>
          </a:xfrm>
          <a:prstGeom prst="rect">
            <a:avLst/>
          </a:prstGeom>
          <a:noFill/>
        </p:spPr>
        <p:txBody>
          <a:bodyPr wrap="square" lIns="0" tIns="0" rIns="0" bIns="0" anchor="t">
            <a:spAutoFit/>
          </a:bodyPr>
          <a:lstStyle/>
          <a:p>
            <a:pPr algn="l"/>
            <a:r>
              <a:rPr sz="1200" b="1" i="0" dirty="0">
                <a:solidFill>
                  <a:srgbClr val="93A3B8"/>
                </a:solidFill>
                <a:latin typeface="Segoe UI"/>
              </a:rPr>
              <a:t>Flux </a:t>
            </a:r>
            <a:r>
              <a:rPr sz="1200" b="1" i="0" dirty="0" err="1">
                <a:solidFill>
                  <a:srgbClr val="93A3B8"/>
                </a:solidFill>
                <a:latin typeface="Segoe UI"/>
              </a:rPr>
              <a:t>d'observabilité</a:t>
            </a:r>
            <a:r>
              <a:rPr sz="1200" b="1" i="0" dirty="0">
                <a:solidFill>
                  <a:srgbClr val="93A3B8"/>
                </a:solidFill>
                <a:latin typeface="Segoe UI"/>
              </a:rPr>
              <a:t> :  </a:t>
            </a:r>
            <a:r>
              <a:rPr sz="1200" b="0" i="0" dirty="0">
                <a:solidFill>
                  <a:srgbClr val="E2E8F0"/>
                </a:solidFill>
                <a:latin typeface="Segoe UI"/>
              </a:rPr>
              <a:t>Pods → Prometheus (</a:t>
            </a:r>
            <a:r>
              <a:rPr sz="1200" b="0" i="0" dirty="0" err="1">
                <a:solidFill>
                  <a:srgbClr val="E2E8F0"/>
                </a:solidFill>
                <a:latin typeface="Segoe UI"/>
              </a:rPr>
              <a:t>métriques</a:t>
            </a:r>
            <a:r>
              <a:rPr sz="1200" b="0" i="0" dirty="0">
                <a:solidFill>
                  <a:srgbClr val="E2E8F0"/>
                </a:solidFill>
                <a:latin typeface="Segoe UI"/>
              </a:rPr>
              <a:t>) · </a:t>
            </a:r>
            <a:r>
              <a:rPr sz="1200" b="0" i="0" dirty="0" err="1">
                <a:solidFill>
                  <a:srgbClr val="E2E8F0"/>
                </a:solidFill>
                <a:latin typeface="Segoe UI"/>
              </a:rPr>
              <a:t>Promtail</a:t>
            </a:r>
            <a:r>
              <a:rPr sz="1200" b="0" i="0" dirty="0">
                <a:solidFill>
                  <a:srgbClr val="E2E8F0"/>
                </a:solidFill>
                <a:latin typeface="Segoe UI"/>
              </a:rPr>
              <a:t> → Loki (logs)  →  Grafana</a:t>
            </a:r>
          </a:p>
        </p:txBody>
      </p:sp>
      <p:sp>
        <p:nvSpPr>
          <p:cNvPr id="24" name="TextBox 23"/>
          <p:cNvSpPr txBox="1"/>
          <p:nvPr/>
        </p:nvSpPr>
        <p:spPr>
          <a:xfrm>
            <a:off x="502920" y="5715000"/>
            <a:ext cx="11155680" cy="365760"/>
          </a:xfrm>
          <a:prstGeom prst="rect">
            <a:avLst/>
          </a:prstGeom>
          <a:noFill/>
        </p:spPr>
        <p:txBody>
          <a:bodyPr wrap="square" lIns="0" tIns="0" rIns="0" bIns="0" anchor="t">
            <a:spAutoFit/>
          </a:bodyPr>
          <a:lstStyle/>
          <a:p>
            <a:pPr algn="l"/>
            <a:r>
              <a:rPr sz="1100" b="1" i="0">
                <a:solidFill>
                  <a:srgbClr val="93A3B8"/>
                </a:solidFill>
                <a:latin typeface="Segoe UI"/>
              </a:rPr>
              <a:t>Socle : </a:t>
            </a:r>
            <a:r>
              <a:rPr sz="1100" b="0" i="1">
                <a:solidFill>
                  <a:srgbClr val="93A3B8"/>
                </a:solidFill>
                <a:latin typeface="Segoe UI"/>
              </a:rPr>
              <a:t>Kubernetes v1.31 · containerd · Calico · réseau privé 10.2.50.0/24 · AWS eu-central-1</a:t>
            </a:r>
          </a:p>
        </p:txBody>
      </p:sp>
      <p:sp>
        <p:nvSpPr>
          <p:cNvPr id="25" name="Rectangle 24"/>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27" name="TextBox 26"/>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INFRASTRUCTURE AS CODE</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Tout le socle AWS provisionné par Terraform</a:t>
            </a:r>
          </a:p>
        </p:txBody>
      </p:sp>
      <p:sp>
        <p:nvSpPr>
          <p:cNvPr id="5" name="Rounded Rectangle 4"/>
          <p:cNvSpPr/>
          <p:nvPr/>
        </p:nvSpPr>
        <p:spPr>
          <a:xfrm>
            <a:off x="502920" y="1554480"/>
            <a:ext cx="5532120" cy="21488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64008" cy="214884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00784"/>
            <a:ext cx="5184648" cy="18745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Réseau dédié</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VPC + Internet Gateway</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Subnet public + route table</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Réseau privé stable 10.2.50.0/24</a:t>
            </a:r>
          </a:p>
        </p:txBody>
      </p:sp>
      <p:sp>
        <p:nvSpPr>
          <p:cNvPr id="8" name="Rounded Rectangle 7"/>
          <p:cNvSpPr/>
          <p:nvPr/>
        </p:nvSpPr>
        <p:spPr>
          <a:xfrm>
            <a:off x="502920" y="3840480"/>
            <a:ext cx="5532120" cy="21488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3840480"/>
            <a:ext cx="64008" cy="21488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3986784"/>
            <a:ext cx="5184648" cy="18745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Sécurité réseau (3 Security Groups)</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kubernetes_nodes · ingress · monitoring</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SSH 22 · API 6443 · kubelet 10250</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NodePorts 32222 / 32214</a:t>
            </a:r>
          </a:p>
        </p:txBody>
      </p:sp>
      <p:sp>
        <p:nvSpPr>
          <p:cNvPr id="11" name="Rounded Rectangle 10"/>
          <p:cNvSpPr/>
          <p:nvPr/>
        </p:nvSpPr>
        <p:spPr>
          <a:xfrm>
            <a:off x="6172200" y="1554480"/>
            <a:ext cx="5532120" cy="21488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54480"/>
            <a:ext cx="64008" cy="21488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700784"/>
            <a:ext cx="5184648" cy="18745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Compute — 4 instances EC2</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Amazon Linux 2023 · ARM64 (aarch64)</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user_data → prérequis K8s au boot</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kube_1 · kube_2 · ingress · monitoring</a:t>
            </a:r>
          </a:p>
        </p:txBody>
      </p:sp>
      <p:sp>
        <p:nvSpPr>
          <p:cNvPr id="14" name="Rounded Rectangle 13"/>
          <p:cNvSpPr/>
          <p:nvPr/>
        </p:nvSpPr>
        <p:spPr>
          <a:xfrm>
            <a:off x="6172200" y="3840480"/>
            <a:ext cx="5532120" cy="21488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3840480"/>
            <a:ext cx="64008" cy="214884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3368" y="3986784"/>
            <a:ext cx="5184648" cy="18745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Gouvernance &amp; secrets</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Clé SSH lue depuis AWS SSM Parameter Store</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Aucun secret en clair dans le code</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Outputs : IP publiques/privées + commande SSH</a:t>
            </a:r>
          </a:p>
        </p:txBody>
      </p:sp>
      <p:sp>
        <p:nvSpPr>
          <p:cNvPr id="17" name="TextBox 16"/>
          <p:cNvSpPr txBox="1"/>
          <p:nvPr/>
        </p:nvSpPr>
        <p:spPr>
          <a:xfrm>
            <a:off x="502920" y="6126480"/>
            <a:ext cx="10972800" cy="365760"/>
          </a:xfrm>
          <a:prstGeom prst="rect">
            <a:avLst/>
          </a:prstGeom>
          <a:noFill/>
        </p:spPr>
        <p:txBody>
          <a:bodyPr wrap="square" lIns="0" tIns="0" rIns="0" bIns="0" anchor="t">
            <a:spAutoFit/>
          </a:bodyPr>
          <a:lstStyle/>
          <a:p>
            <a:pPr algn="l"/>
            <a:r>
              <a:rPr sz="1100" b="1" i="0">
                <a:solidFill>
                  <a:srgbClr val="93A3B8"/>
                </a:solidFill>
                <a:latin typeface="Consolas"/>
              </a:rPr>
              <a:t>terraform/main.tf  (~580 lignes)  —  </a:t>
            </a:r>
            <a:r>
              <a:rPr sz="1100" b="0" i="1">
                <a:solidFill>
                  <a:srgbClr val="93A3B8"/>
                </a:solidFill>
                <a:latin typeface="Segoe UI"/>
              </a:rPr>
              <a:t>terraform apply reconstruit tout le socle de façon reproductible.</a:t>
            </a:r>
          </a:p>
        </p:txBody>
      </p:sp>
      <p:sp>
        <p:nvSpPr>
          <p:cNvPr id="18" name="Rectangle 17"/>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20" name="TextBox 19"/>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SOCLE KUBERNETES</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Un cluster kubeadm multi-nœuds, monté à la main</a:t>
            </a:r>
          </a:p>
        </p:txBody>
      </p:sp>
      <p:sp>
        <p:nvSpPr>
          <p:cNvPr id="5" name="Rounded Rectangle 4"/>
          <p:cNvSpPr/>
          <p:nvPr/>
        </p:nvSpPr>
        <p:spPr>
          <a:xfrm>
            <a:off x="502920" y="1600200"/>
            <a:ext cx="3639312" cy="22860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64008" cy="228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46504"/>
            <a:ext cx="3291840" cy="20116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Bootstrap</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kubeadm init sur node-1</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3 workers rejoints (kubeadm join)</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4 nœuds Ready</a:t>
            </a:r>
          </a:p>
        </p:txBody>
      </p:sp>
      <p:sp>
        <p:nvSpPr>
          <p:cNvPr id="8" name="Rounded Rectangle 7"/>
          <p:cNvSpPr/>
          <p:nvPr/>
        </p:nvSpPr>
        <p:spPr>
          <a:xfrm>
            <a:off x="4325112" y="1600200"/>
            <a:ext cx="3639312" cy="22860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25112" y="1600200"/>
            <a:ext cx="64008" cy="2286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746504"/>
            <a:ext cx="3291840" cy="20116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Runtime &amp; réseau</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Runtime : containerd</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CNI : Calico (192.168.0.0/16)</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Communication inter-pods</a:t>
            </a:r>
          </a:p>
        </p:txBody>
      </p:sp>
      <p:sp>
        <p:nvSpPr>
          <p:cNvPr id="11" name="Rounded Rectangle 10"/>
          <p:cNvSpPr/>
          <p:nvPr/>
        </p:nvSpPr>
        <p:spPr>
          <a:xfrm>
            <a:off x="8147304" y="1600200"/>
            <a:ext cx="3639312" cy="22860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147304" y="1600200"/>
            <a:ext cx="64008" cy="22860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8472" y="1746504"/>
            <a:ext cx="3291840" cy="20116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Version &amp; rôles</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Kubernetes v1.31</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1 control-plane + 3 workers</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Nœuds spécialisés par label</a:t>
            </a:r>
          </a:p>
        </p:txBody>
      </p:sp>
      <p:sp>
        <p:nvSpPr>
          <p:cNvPr id="14" name="Rounded Rectangle 13"/>
          <p:cNvSpPr/>
          <p:nvPr/>
        </p:nvSpPr>
        <p:spPr>
          <a:xfrm>
            <a:off x="502920" y="4114800"/>
            <a:ext cx="11201400" cy="18288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4114800"/>
            <a:ext cx="64008" cy="1828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 y="4261104"/>
            <a:ext cx="10853928" cy="15544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Ciblage des workloads (labels &amp; nodeSelector)</a:t>
            </a:r>
          </a:p>
          <a:p>
            <a:pPr algn="l">
              <a:lnSpc>
                <a:spcPct val="110000"/>
              </a:lnSpc>
              <a:spcAft>
                <a:spcPts val="800"/>
              </a:spcAft>
            </a:pPr>
            <a:r>
              <a:rPr sz="1250" b="0" i="0">
                <a:solidFill>
                  <a:srgbClr val="E2E8F0"/>
                </a:solidFill>
                <a:latin typeface="Segoe UI"/>
              </a:rPr>
              <a:t>Chaque composant est épinglé sur le bon nœud via </a:t>
            </a:r>
            <a:r>
              <a:rPr sz="1250" b="1" i="0">
                <a:solidFill>
                  <a:srgbClr val="38BDF8"/>
                </a:solidFill>
                <a:latin typeface="Consolas"/>
              </a:rPr>
              <a:t>nodeSelector</a:t>
            </a:r>
            <a:r>
              <a:rPr sz="1250" b="0" i="0">
                <a:solidFill>
                  <a:srgbClr val="E2E8F0"/>
                </a:solidFill>
                <a:latin typeface="Segoe UI"/>
              </a:rPr>
              <a:t> et les labels de rôle :</a:t>
            </a:r>
          </a:p>
          <a:p>
            <a:pPr algn="l">
              <a:lnSpc>
                <a:spcPct val="110000"/>
              </a:lnSpc>
              <a:spcAft>
                <a:spcPts val="400"/>
              </a:spcAft>
            </a:pPr>
            <a:r>
              <a:rPr sz="1200" b="1" i="0">
                <a:solidFill>
                  <a:srgbClr val="F59E0B"/>
                </a:solidFill>
                <a:latin typeface="Consolas"/>
              </a:rPr>
              <a:t>node-role.kubernetes.io/monitoring</a:t>
            </a:r>
            <a:r>
              <a:rPr sz="1200" b="0" i="0">
                <a:solidFill>
                  <a:srgbClr val="E2E8F0"/>
                </a:solidFill>
                <a:latin typeface="Segoe UI"/>
              </a:rPr>
              <a:t>  →  la stack d'observabilité   ·   </a:t>
            </a:r>
            <a:r>
              <a:rPr sz="1200" b="1" i="0">
                <a:solidFill>
                  <a:srgbClr val="22C55E"/>
                </a:solidFill>
                <a:latin typeface="Consolas"/>
              </a:rPr>
              <a:t>kubernetes.io/hostname</a:t>
            </a:r>
            <a:r>
              <a:rPr sz="1200" b="0" i="0">
                <a:solidFill>
                  <a:srgbClr val="E2E8F0"/>
                </a:solidFill>
                <a:latin typeface="Segoe UI"/>
              </a:rPr>
              <a:t>  →  l'app là où l'image locale existe</a:t>
            </a:r>
          </a:p>
        </p:txBody>
      </p:sp>
      <p:sp>
        <p:nvSpPr>
          <p:cNvPr id="17" name="Rectangle 16"/>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9" name="TextBox 18"/>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RÉSEAU &amp; EXPOSITION</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Point d'entrée unique et isolation du trafic</a:t>
            </a:r>
          </a:p>
        </p:txBody>
      </p:sp>
      <p:sp>
        <p:nvSpPr>
          <p:cNvPr id="5" name="Rounded Rectangle 4"/>
          <p:cNvSpPr/>
          <p:nvPr/>
        </p:nvSpPr>
        <p:spPr>
          <a:xfrm>
            <a:off x="502920" y="1600200"/>
            <a:ext cx="5532120" cy="2103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64008" cy="21031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46504"/>
            <a:ext cx="5184648" cy="182880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Ingress — nginx</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Point d'entrée unique du trafic externe</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Routage host-based vers les Services</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NodePort 32222 en fallback (pas de LoadBalancer cloud sur EC2 auto-gérées)</a:t>
            </a:r>
          </a:p>
        </p:txBody>
      </p:sp>
      <p:sp>
        <p:nvSpPr>
          <p:cNvPr id="8" name="Rounded Rectangle 7"/>
          <p:cNvSpPr/>
          <p:nvPr/>
        </p:nvSpPr>
        <p:spPr>
          <a:xfrm>
            <a:off x="6172200" y="1600200"/>
            <a:ext cx="5532120" cy="2103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600200"/>
            <a:ext cx="64008" cy="2103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746504"/>
            <a:ext cx="5184648" cy="182880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TLS — cert-manager</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ClusterIssuer (Let's Encrypt / auto-signé)</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Certificats HTTPS automatiques sur les Ingress</a:t>
            </a:r>
          </a:p>
          <a:p>
            <a:pPr algn="l">
              <a:lnSpc>
                <a:spcPct val="105000"/>
              </a:lnSpc>
              <a:spcAft>
                <a:spcPts val="500"/>
              </a:spcAft>
            </a:pPr>
            <a:r>
              <a:rPr sz="1200" b="1" i="0">
                <a:solidFill>
                  <a:srgbClr val="326CE5"/>
                </a:solidFill>
                <a:latin typeface="Segoe UI"/>
              </a:rPr>
              <a:t>▸ </a:t>
            </a:r>
            <a:r>
              <a:rPr sz="1200" b="0" i="0">
                <a:solidFill>
                  <a:srgbClr val="E2E8F0"/>
                </a:solidFill>
                <a:latin typeface="Segoe UI"/>
              </a:rPr>
              <a:t>Renouvellement géré, sans intervention</a:t>
            </a:r>
          </a:p>
        </p:txBody>
      </p:sp>
      <p:sp>
        <p:nvSpPr>
          <p:cNvPr id="11" name="Rounded Rectangle 10"/>
          <p:cNvSpPr/>
          <p:nvPr/>
        </p:nvSpPr>
        <p:spPr>
          <a:xfrm>
            <a:off x="502920" y="3931920"/>
            <a:ext cx="11201400" cy="201168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3931920"/>
            <a:ext cx="64008" cy="201168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4078224"/>
            <a:ext cx="10853928" cy="842154"/>
          </a:xfrm>
          <a:prstGeom prst="rect">
            <a:avLst/>
          </a:prstGeom>
          <a:noFill/>
        </p:spPr>
        <p:txBody>
          <a:bodyPr wrap="square" lIns="0" tIns="0" rIns="0" bIns="0" anchor="t">
            <a:spAutoFit/>
          </a:bodyPr>
          <a:lstStyle/>
          <a:p>
            <a:pPr algn="l">
              <a:spcAft>
                <a:spcPts val="700"/>
              </a:spcAft>
            </a:pPr>
            <a:r>
              <a:rPr sz="1500" b="1" i="0" dirty="0" err="1">
                <a:solidFill>
                  <a:srgbClr val="FFFFFF"/>
                </a:solidFill>
                <a:latin typeface="Segoe UI"/>
              </a:rPr>
              <a:t>NetworkPolicies</a:t>
            </a:r>
            <a:r>
              <a:rPr sz="1500" b="1" i="0" dirty="0">
                <a:solidFill>
                  <a:srgbClr val="FFFFFF"/>
                </a:solidFill>
                <a:latin typeface="Segoe UI"/>
              </a:rPr>
              <a:t> — micro-segmentation</a:t>
            </a:r>
          </a:p>
          <a:p>
            <a:pPr algn="l">
              <a:lnSpc>
                <a:spcPct val="110000"/>
              </a:lnSpc>
              <a:spcAft>
                <a:spcPts val="800"/>
              </a:spcAft>
            </a:pPr>
            <a:r>
              <a:rPr sz="1300" b="0" i="0" dirty="0" err="1">
                <a:solidFill>
                  <a:srgbClr val="E2E8F0"/>
                </a:solidFill>
                <a:latin typeface="Segoe UI"/>
              </a:rPr>
              <a:t>L'application</a:t>
            </a:r>
            <a:r>
              <a:rPr sz="1300" b="0" i="0" dirty="0">
                <a:solidFill>
                  <a:srgbClr val="E2E8F0"/>
                </a:solidFill>
                <a:latin typeface="Segoe UI"/>
              </a:rPr>
              <a:t> est </a:t>
            </a:r>
            <a:r>
              <a:rPr sz="1300" b="0" i="0" dirty="0" err="1">
                <a:solidFill>
                  <a:srgbClr val="E2E8F0"/>
                </a:solidFill>
                <a:latin typeface="Segoe UI"/>
              </a:rPr>
              <a:t>isolée</a:t>
            </a:r>
            <a:r>
              <a:rPr sz="1300" b="0" i="0" dirty="0">
                <a:solidFill>
                  <a:srgbClr val="E2E8F0"/>
                </a:solidFill>
                <a:latin typeface="Segoe UI"/>
              </a:rPr>
              <a:t> par </a:t>
            </a:r>
            <a:r>
              <a:rPr sz="1300" b="0" i="0" dirty="0" err="1">
                <a:solidFill>
                  <a:srgbClr val="E2E8F0"/>
                </a:solidFill>
                <a:latin typeface="Segoe UI"/>
              </a:rPr>
              <a:t>défaut</a:t>
            </a:r>
            <a:r>
              <a:rPr sz="1300" b="0" i="0" dirty="0">
                <a:solidFill>
                  <a:srgbClr val="E2E8F0"/>
                </a:solidFill>
                <a:latin typeface="Segoe UI"/>
              </a:rPr>
              <a:t> : </a:t>
            </a:r>
            <a:r>
              <a:rPr sz="1300" b="1" i="0" dirty="0">
                <a:solidFill>
                  <a:srgbClr val="FFFFFF"/>
                </a:solidFill>
                <a:latin typeface="Segoe UI"/>
              </a:rPr>
              <a:t>seuls </a:t>
            </a:r>
            <a:r>
              <a:rPr sz="1300" b="1" i="0" dirty="0" err="1">
                <a:solidFill>
                  <a:srgbClr val="FFFFFF"/>
                </a:solidFill>
                <a:latin typeface="Segoe UI"/>
              </a:rPr>
              <a:t>l'ingress</a:t>
            </a:r>
            <a:r>
              <a:rPr sz="1300" b="1" i="0" dirty="0">
                <a:solidFill>
                  <a:srgbClr val="FFFFFF"/>
                </a:solidFill>
                <a:latin typeface="Segoe UI"/>
              </a:rPr>
              <a:t> et le monitoring </a:t>
            </a:r>
            <a:r>
              <a:rPr sz="1300" b="1" i="0" dirty="0" err="1">
                <a:solidFill>
                  <a:srgbClr val="FFFFFF"/>
                </a:solidFill>
                <a:latin typeface="Segoe UI"/>
              </a:rPr>
              <a:t>peuvent</a:t>
            </a:r>
            <a:r>
              <a:rPr sz="1300" b="1" i="0" dirty="0">
                <a:solidFill>
                  <a:srgbClr val="FFFFFF"/>
                </a:solidFill>
                <a:latin typeface="Segoe UI"/>
              </a:rPr>
              <a:t> </a:t>
            </a:r>
            <a:r>
              <a:rPr sz="1300" b="1" i="0" dirty="0" err="1">
                <a:solidFill>
                  <a:srgbClr val="FFFFFF"/>
                </a:solidFill>
                <a:latin typeface="Segoe UI"/>
              </a:rPr>
              <a:t>l'atteindre</a:t>
            </a:r>
            <a:r>
              <a:rPr sz="1300" b="0" i="0" dirty="0">
                <a:solidFill>
                  <a:srgbClr val="E2E8F0"/>
                </a:solidFill>
                <a:latin typeface="Segoe UI"/>
              </a:rPr>
              <a:t>.</a:t>
            </a:r>
          </a:p>
          <a:p>
            <a:pPr algn="l">
              <a:lnSpc>
                <a:spcPct val="110000"/>
              </a:lnSpc>
              <a:spcAft>
                <a:spcPts val="400"/>
              </a:spcAft>
            </a:pPr>
            <a:r>
              <a:rPr sz="1250" b="0" i="0" dirty="0">
                <a:solidFill>
                  <a:srgbClr val="E2E8F0"/>
                </a:solidFill>
                <a:latin typeface="Segoe UI"/>
              </a:rPr>
              <a:t>Les </a:t>
            </a:r>
            <a:r>
              <a:rPr sz="1250" b="0" i="0" dirty="0" err="1">
                <a:solidFill>
                  <a:srgbClr val="E2E8F0"/>
                </a:solidFill>
                <a:latin typeface="Segoe UI"/>
              </a:rPr>
              <a:t>autres</a:t>
            </a:r>
            <a:r>
              <a:rPr sz="1250" b="0" i="0" dirty="0">
                <a:solidFill>
                  <a:srgbClr val="E2E8F0"/>
                </a:solidFill>
                <a:latin typeface="Segoe UI"/>
              </a:rPr>
              <a:t> namespaces </a:t>
            </a:r>
            <a:r>
              <a:rPr sz="1250" b="0" i="0" dirty="0" err="1">
                <a:solidFill>
                  <a:srgbClr val="E2E8F0"/>
                </a:solidFill>
                <a:latin typeface="Segoe UI"/>
              </a:rPr>
              <a:t>sont</a:t>
            </a:r>
            <a:r>
              <a:rPr sz="1250" b="0" i="0" dirty="0">
                <a:solidFill>
                  <a:srgbClr val="E2E8F0"/>
                </a:solidFill>
                <a:latin typeface="Segoe UI"/>
              </a:rPr>
              <a:t> </a:t>
            </a:r>
            <a:r>
              <a:rPr sz="1250" b="0" i="0" dirty="0" err="1">
                <a:solidFill>
                  <a:srgbClr val="E2E8F0"/>
                </a:solidFill>
                <a:latin typeface="Segoe UI"/>
              </a:rPr>
              <a:t>bloqués</a:t>
            </a:r>
            <a:r>
              <a:rPr sz="1250" b="0" i="0" dirty="0">
                <a:solidFill>
                  <a:srgbClr val="E2E8F0"/>
                </a:solidFill>
                <a:latin typeface="Segoe UI"/>
              </a:rPr>
              <a:t>: un pod du namespace </a:t>
            </a:r>
            <a:r>
              <a:rPr sz="1250" b="1" i="0" dirty="0">
                <a:solidFill>
                  <a:srgbClr val="F59E0B"/>
                </a:solidFill>
                <a:latin typeface="Consolas"/>
              </a:rPr>
              <a:t>default</a:t>
            </a:r>
            <a:r>
              <a:rPr sz="1250" b="0" i="0" dirty="0">
                <a:solidFill>
                  <a:srgbClr val="E2E8F0"/>
                </a:solidFill>
                <a:latin typeface="Segoe UI"/>
              </a:rPr>
              <a:t> → timeout.</a:t>
            </a:r>
          </a:p>
        </p:txBody>
      </p:sp>
      <p:sp>
        <p:nvSpPr>
          <p:cNvPr id="14" name="Rectangle 13"/>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6" name="TextBox 15"/>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LIVRAISON APPLICATIVE</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L'application Laravel packagée en chart Helm</a:t>
            </a:r>
          </a:p>
        </p:txBody>
      </p:sp>
      <p:sp>
        <p:nvSpPr>
          <p:cNvPr id="5" name="Rounded Rectangle 4"/>
          <p:cNvSpPr/>
          <p:nvPr/>
        </p:nvSpPr>
        <p:spPr>
          <a:xfrm>
            <a:off x="502920" y="1600200"/>
            <a:ext cx="5532120" cy="42062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64008" cy="420624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46504"/>
            <a:ext cx="5184648" cy="39319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Un chart, tous les objets K8s</a:t>
            </a:r>
          </a:p>
          <a:p>
            <a:pPr algn="l">
              <a:lnSpc>
                <a:spcPct val="105000"/>
              </a:lnSpc>
              <a:spcAft>
                <a:spcPts val="900"/>
              </a:spcAft>
            </a:pPr>
            <a:r>
              <a:rPr sz="1300" b="1" i="0">
                <a:solidFill>
                  <a:srgbClr val="326CE5"/>
                </a:solidFill>
                <a:latin typeface="Segoe UI"/>
              </a:rPr>
              <a:t>▸ </a:t>
            </a:r>
            <a:r>
              <a:rPr sz="1300" b="0" i="0">
                <a:solidFill>
                  <a:srgbClr val="E2E8F0"/>
                </a:solidFill>
                <a:latin typeface="Segoe UI"/>
              </a:rPr>
              <a:t>Deployment · Service · Ingress</a:t>
            </a:r>
          </a:p>
          <a:p>
            <a:pPr algn="l">
              <a:lnSpc>
                <a:spcPct val="105000"/>
              </a:lnSpc>
              <a:spcAft>
                <a:spcPts val="900"/>
              </a:spcAft>
            </a:pPr>
            <a:r>
              <a:rPr sz="1300" b="1" i="0">
                <a:solidFill>
                  <a:srgbClr val="326CE5"/>
                </a:solidFill>
                <a:latin typeface="Segoe UI"/>
              </a:rPr>
              <a:t>▸ </a:t>
            </a:r>
            <a:r>
              <a:rPr sz="1300" b="0" i="0">
                <a:solidFill>
                  <a:srgbClr val="E2E8F0"/>
                </a:solidFill>
                <a:latin typeface="Segoe UI"/>
              </a:rPr>
              <a:t>ConfigMap · Secret (données sensibles)</a:t>
            </a:r>
          </a:p>
          <a:p>
            <a:pPr algn="l">
              <a:lnSpc>
                <a:spcPct val="105000"/>
              </a:lnSpc>
              <a:spcAft>
                <a:spcPts val="900"/>
              </a:spcAft>
            </a:pPr>
            <a:r>
              <a:rPr sz="1300" b="1" i="0">
                <a:solidFill>
                  <a:srgbClr val="326CE5"/>
                </a:solidFill>
                <a:latin typeface="Segoe UI"/>
              </a:rPr>
              <a:t>▸ </a:t>
            </a:r>
            <a:r>
              <a:rPr sz="1300" b="0" i="0">
                <a:solidFill>
                  <a:srgbClr val="E2E8F0"/>
                </a:solidFill>
                <a:latin typeface="Segoe UI"/>
              </a:rPr>
              <a:t>HPA (autoscaling) · PDB (disponibilité)</a:t>
            </a:r>
          </a:p>
          <a:p>
            <a:pPr algn="l">
              <a:lnSpc>
                <a:spcPct val="105000"/>
              </a:lnSpc>
              <a:spcAft>
                <a:spcPts val="900"/>
              </a:spcAft>
            </a:pPr>
            <a:r>
              <a:rPr sz="1300" b="1" i="0">
                <a:solidFill>
                  <a:srgbClr val="326CE5"/>
                </a:solidFill>
                <a:latin typeface="Segoe UI"/>
              </a:rPr>
              <a:t>▸ </a:t>
            </a:r>
            <a:r>
              <a:rPr sz="1300" b="0" i="0">
                <a:solidFill>
                  <a:srgbClr val="E2E8F0"/>
                </a:solidFill>
                <a:latin typeface="Segoe UI"/>
              </a:rPr>
              <a:t>PVC (stockage) · ServiceAccount</a:t>
            </a:r>
          </a:p>
          <a:p>
            <a:pPr algn="l">
              <a:lnSpc>
                <a:spcPct val="105000"/>
              </a:lnSpc>
              <a:spcAft>
                <a:spcPts val="900"/>
              </a:spcAft>
            </a:pPr>
            <a:r>
              <a:rPr sz="1300" b="1" i="0">
                <a:solidFill>
                  <a:srgbClr val="326CE5"/>
                </a:solidFill>
                <a:latin typeface="Segoe UI"/>
              </a:rPr>
              <a:t>▸ </a:t>
            </a:r>
            <a:r>
              <a:rPr sz="1300" b="0" i="0">
                <a:solidFill>
                  <a:srgbClr val="E2E8F0"/>
                </a:solidFill>
                <a:latin typeface="Segoe UI"/>
              </a:rPr>
              <a:t>CronJob de backup · ServiceMonitor</a:t>
            </a:r>
          </a:p>
          <a:p>
            <a:pPr algn="l">
              <a:lnSpc>
                <a:spcPct val="105000"/>
              </a:lnSpc>
              <a:spcAft>
                <a:spcPts val="900"/>
              </a:spcAft>
            </a:pPr>
            <a:r>
              <a:rPr sz="1300" b="1" i="0">
                <a:solidFill>
                  <a:srgbClr val="326CE5"/>
                </a:solidFill>
                <a:latin typeface="Segoe UI"/>
              </a:rPr>
              <a:t>▸ </a:t>
            </a:r>
            <a:r>
              <a:rPr sz="1300" b="0" i="0">
                <a:solidFill>
                  <a:srgbClr val="E2E8F0"/>
                </a:solidFill>
                <a:latin typeface="Segoe UI"/>
              </a:rPr>
              <a:t>Tests Helm</a:t>
            </a:r>
          </a:p>
        </p:txBody>
      </p:sp>
      <p:sp>
        <p:nvSpPr>
          <p:cNvPr id="8" name="Rounded Rectangle 7"/>
          <p:cNvSpPr/>
          <p:nvPr/>
        </p:nvSpPr>
        <p:spPr>
          <a:xfrm>
            <a:off x="6172200" y="1600200"/>
            <a:ext cx="5532120" cy="201168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600200"/>
            <a:ext cx="64008" cy="201168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746504"/>
            <a:ext cx="5184648" cy="173736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Base de données</a:t>
            </a:r>
          </a:p>
          <a:p>
            <a:pPr algn="l">
              <a:lnSpc>
                <a:spcPct val="110000"/>
              </a:lnSpc>
              <a:spcAft>
                <a:spcPts val="600"/>
              </a:spcAft>
            </a:pPr>
            <a:r>
              <a:rPr sz="1250" b="0" i="0">
                <a:solidFill>
                  <a:srgbClr val="E2E8F0"/>
                </a:solidFill>
                <a:latin typeface="Segoe UI"/>
              </a:rPr>
              <a:t>Fournie par un chart Helm officiel, intégrée comme dépendance : persistance, auth via Secret, metrics.</a:t>
            </a:r>
          </a:p>
        </p:txBody>
      </p:sp>
      <p:sp>
        <p:nvSpPr>
          <p:cNvPr id="11" name="Rounded Rectangle 10"/>
          <p:cNvSpPr/>
          <p:nvPr/>
        </p:nvSpPr>
        <p:spPr>
          <a:xfrm>
            <a:off x="6172200" y="3794760"/>
            <a:ext cx="5532120" cy="201168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3794760"/>
            <a:ext cx="64008" cy="201168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3941064"/>
            <a:ext cx="5184648" cy="173736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Cycle de vie maîtrisé</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helm install déploie app + base d'un coup</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Config centralisée dans values.yaml</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Upgrade / rollback versionnés par Helm</a:t>
            </a:r>
          </a:p>
        </p:txBody>
      </p:sp>
      <p:sp>
        <p:nvSpPr>
          <p:cNvPr id="14" name="Rectangle 13"/>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6" name="TextBox 15"/>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BONNES PRATIQUES KUBERNETES</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Une application pensée pour la production</a:t>
            </a:r>
          </a:p>
        </p:txBody>
      </p:sp>
      <p:sp>
        <p:nvSpPr>
          <p:cNvPr id="5" name="Rounded Rectangle 4"/>
          <p:cNvSpPr/>
          <p:nvPr/>
        </p:nvSpPr>
        <p:spPr>
          <a:xfrm>
            <a:off x="502920" y="1600200"/>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64008" cy="9601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600200"/>
            <a:ext cx="5166360" cy="960120"/>
          </a:xfrm>
          <a:prstGeom prst="rect">
            <a:avLst/>
          </a:prstGeom>
          <a:noFill/>
        </p:spPr>
        <p:txBody>
          <a:bodyPr wrap="square" lIns="0" tIns="0" rIns="0" bIns="0" anchor="ctr">
            <a:spAutoFit/>
          </a:bodyPr>
          <a:lstStyle/>
          <a:p>
            <a:pPr algn="l"/>
            <a:r>
              <a:rPr sz="1350" b="1" i="0">
                <a:solidFill>
                  <a:srgbClr val="FFFFFF"/>
                </a:solidFill>
                <a:latin typeface="Segoe UI"/>
              </a:rPr>
              <a:t>Ressources</a:t>
            </a:r>
          </a:p>
          <a:p>
            <a:pPr algn="l"/>
            <a:r>
              <a:rPr sz="1150" b="0" i="0">
                <a:solidFill>
                  <a:srgbClr val="93A3B8"/>
                </a:solidFill>
                <a:latin typeface="Segoe UI"/>
              </a:rPr>
              <a:t>requests / limits CPU &amp; mémoire par conteneur</a:t>
            </a:r>
          </a:p>
        </p:txBody>
      </p:sp>
      <p:sp>
        <p:nvSpPr>
          <p:cNvPr id="8" name="Rounded Rectangle 7"/>
          <p:cNvSpPr/>
          <p:nvPr/>
        </p:nvSpPr>
        <p:spPr>
          <a:xfrm>
            <a:off x="6172200" y="1600200"/>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600200"/>
            <a:ext cx="64008" cy="9601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600200"/>
            <a:ext cx="5166360" cy="960120"/>
          </a:xfrm>
          <a:prstGeom prst="rect">
            <a:avLst/>
          </a:prstGeom>
          <a:noFill/>
        </p:spPr>
        <p:txBody>
          <a:bodyPr wrap="square" lIns="0" tIns="0" rIns="0" bIns="0" anchor="ctr">
            <a:spAutoFit/>
          </a:bodyPr>
          <a:lstStyle/>
          <a:p>
            <a:pPr algn="l"/>
            <a:r>
              <a:rPr sz="1350" b="1" i="0">
                <a:solidFill>
                  <a:srgbClr val="FFFFFF"/>
                </a:solidFill>
                <a:latin typeface="Segoe UI"/>
              </a:rPr>
              <a:t>Redondance</a:t>
            </a:r>
          </a:p>
          <a:p>
            <a:pPr algn="l"/>
            <a:r>
              <a:rPr sz="1150" b="0" i="0">
                <a:solidFill>
                  <a:srgbClr val="93A3B8"/>
                </a:solidFill>
                <a:latin typeface="Segoe UI"/>
              </a:rPr>
              <a:t>replicaCount 3 + PodDisruptionBudget</a:t>
            </a:r>
          </a:p>
        </p:txBody>
      </p:sp>
      <p:sp>
        <p:nvSpPr>
          <p:cNvPr id="11" name="Rounded Rectangle 10"/>
          <p:cNvSpPr/>
          <p:nvPr/>
        </p:nvSpPr>
        <p:spPr>
          <a:xfrm>
            <a:off x="502920" y="2706624"/>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706624"/>
            <a:ext cx="64008" cy="960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2706624"/>
            <a:ext cx="5166360" cy="960120"/>
          </a:xfrm>
          <a:prstGeom prst="rect">
            <a:avLst/>
          </a:prstGeom>
          <a:noFill/>
        </p:spPr>
        <p:txBody>
          <a:bodyPr wrap="square" lIns="0" tIns="0" rIns="0" bIns="0" anchor="ctr">
            <a:spAutoFit/>
          </a:bodyPr>
          <a:lstStyle/>
          <a:p>
            <a:pPr algn="l"/>
            <a:r>
              <a:rPr sz="1350" b="1" i="0">
                <a:solidFill>
                  <a:srgbClr val="FFFFFF"/>
                </a:solidFill>
                <a:latin typeface="Segoe UI"/>
              </a:rPr>
              <a:t>Anti-affinité</a:t>
            </a:r>
          </a:p>
          <a:p>
            <a:pPr algn="l"/>
            <a:r>
              <a:rPr sz="1150" b="0" i="0">
                <a:solidFill>
                  <a:srgbClr val="93A3B8"/>
                </a:solidFill>
                <a:latin typeface="Segoe UI"/>
              </a:rPr>
              <a:t>les replicas répartis sur des nœuds différents</a:t>
            </a:r>
          </a:p>
        </p:txBody>
      </p:sp>
      <p:sp>
        <p:nvSpPr>
          <p:cNvPr id="14" name="Rounded Rectangle 13"/>
          <p:cNvSpPr/>
          <p:nvPr/>
        </p:nvSpPr>
        <p:spPr>
          <a:xfrm>
            <a:off x="6172200" y="2706624"/>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2706624"/>
            <a:ext cx="64008"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3368" y="2706624"/>
            <a:ext cx="5166360" cy="960120"/>
          </a:xfrm>
          <a:prstGeom prst="rect">
            <a:avLst/>
          </a:prstGeom>
          <a:noFill/>
        </p:spPr>
        <p:txBody>
          <a:bodyPr wrap="square" lIns="0" tIns="0" rIns="0" bIns="0" anchor="ctr">
            <a:spAutoFit/>
          </a:bodyPr>
          <a:lstStyle/>
          <a:p>
            <a:pPr algn="l"/>
            <a:r>
              <a:rPr sz="1350" b="1" i="0">
                <a:solidFill>
                  <a:srgbClr val="FFFFFF"/>
                </a:solidFill>
                <a:latin typeface="Segoe UI"/>
              </a:rPr>
              <a:t>Autoscaling</a:t>
            </a:r>
          </a:p>
          <a:p>
            <a:pPr algn="l"/>
            <a:r>
              <a:rPr sz="1150" b="0" i="0">
                <a:solidFill>
                  <a:srgbClr val="93A3B8"/>
                </a:solidFill>
                <a:latin typeface="Segoe UI"/>
              </a:rPr>
              <a:t>HPA min 3 / max 10 · seuils CPU 70% / RAM 80%</a:t>
            </a:r>
          </a:p>
        </p:txBody>
      </p:sp>
      <p:sp>
        <p:nvSpPr>
          <p:cNvPr id="17" name="Rounded Rectangle 16"/>
          <p:cNvSpPr/>
          <p:nvPr/>
        </p:nvSpPr>
        <p:spPr>
          <a:xfrm>
            <a:off x="502920" y="3813048"/>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813048"/>
            <a:ext cx="64008" cy="9601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3813048"/>
            <a:ext cx="5166360" cy="960120"/>
          </a:xfrm>
          <a:prstGeom prst="rect">
            <a:avLst/>
          </a:prstGeom>
          <a:noFill/>
        </p:spPr>
        <p:txBody>
          <a:bodyPr wrap="square" lIns="0" tIns="0" rIns="0" bIns="0" anchor="ctr">
            <a:spAutoFit/>
          </a:bodyPr>
          <a:lstStyle/>
          <a:p>
            <a:pPr algn="l"/>
            <a:r>
              <a:rPr sz="1350" b="1" i="0">
                <a:solidFill>
                  <a:srgbClr val="FFFFFF"/>
                </a:solidFill>
                <a:latin typeface="Segoe UI"/>
              </a:rPr>
              <a:t>Persistance</a:t>
            </a:r>
          </a:p>
          <a:p>
            <a:pPr algn="l"/>
            <a:r>
              <a:rPr sz="1150" b="0" i="0">
                <a:solidFill>
                  <a:srgbClr val="93A3B8"/>
                </a:solidFill>
                <a:latin typeface="Segoe UI"/>
              </a:rPr>
              <a:t>PVC + CronJob de backup quotidien (rétention 30 j)</a:t>
            </a:r>
          </a:p>
        </p:txBody>
      </p:sp>
      <p:sp>
        <p:nvSpPr>
          <p:cNvPr id="20" name="Rounded Rectangle 19"/>
          <p:cNvSpPr/>
          <p:nvPr/>
        </p:nvSpPr>
        <p:spPr>
          <a:xfrm>
            <a:off x="6172200" y="3813048"/>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3813048"/>
            <a:ext cx="64008" cy="9601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3368" y="3813048"/>
            <a:ext cx="5166360" cy="960120"/>
          </a:xfrm>
          <a:prstGeom prst="rect">
            <a:avLst/>
          </a:prstGeom>
          <a:noFill/>
        </p:spPr>
        <p:txBody>
          <a:bodyPr wrap="square" lIns="0" tIns="0" rIns="0" bIns="0" anchor="ctr">
            <a:spAutoFit/>
          </a:bodyPr>
          <a:lstStyle/>
          <a:p>
            <a:pPr algn="l"/>
            <a:r>
              <a:rPr sz="1350" b="1" i="0">
                <a:solidFill>
                  <a:srgbClr val="FFFFFF"/>
                </a:solidFill>
                <a:latin typeface="Segoe UI"/>
              </a:rPr>
              <a:t>Probes</a:t>
            </a:r>
          </a:p>
          <a:p>
            <a:pPr algn="l"/>
            <a:r>
              <a:rPr sz="1150" b="0" i="0">
                <a:solidFill>
                  <a:srgbClr val="93A3B8"/>
                </a:solidFill>
                <a:latin typeface="Segoe UI"/>
              </a:rPr>
              <a:t>liveness &amp; readiness → rolling update sans coupure</a:t>
            </a:r>
          </a:p>
        </p:txBody>
      </p:sp>
      <p:sp>
        <p:nvSpPr>
          <p:cNvPr id="23" name="Rounded Rectangle 22"/>
          <p:cNvSpPr/>
          <p:nvPr/>
        </p:nvSpPr>
        <p:spPr>
          <a:xfrm>
            <a:off x="502920" y="4919472"/>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919472"/>
            <a:ext cx="64008" cy="9601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4919472"/>
            <a:ext cx="5166360" cy="960120"/>
          </a:xfrm>
          <a:prstGeom prst="rect">
            <a:avLst/>
          </a:prstGeom>
          <a:noFill/>
        </p:spPr>
        <p:txBody>
          <a:bodyPr wrap="square" lIns="0" tIns="0" rIns="0" bIns="0" anchor="ctr">
            <a:spAutoFit/>
          </a:bodyPr>
          <a:lstStyle/>
          <a:p>
            <a:pPr algn="l"/>
            <a:r>
              <a:rPr sz="1350" b="1" i="0">
                <a:solidFill>
                  <a:srgbClr val="FFFFFF"/>
                </a:solidFill>
                <a:latin typeface="Segoe UI"/>
              </a:rPr>
              <a:t>Secrets</a:t>
            </a:r>
          </a:p>
          <a:p>
            <a:pPr algn="l"/>
            <a:r>
              <a:rPr sz="1150" b="0" i="0">
                <a:solidFill>
                  <a:srgbClr val="93A3B8"/>
                </a:solidFill>
                <a:latin typeface="Segoe UI"/>
              </a:rPr>
              <a:t>appKey, mots de passe DB/Redis/mail via Secret K8s</a:t>
            </a:r>
          </a:p>
        </p:txBody>
      </p:sp>
      <p:sp>
        <p:nvSpPr>
          <p:cNvPr id="26" name="Rounded Rectangle 25"/>
          <p:cNvSpPr/>
          <p:nvPr/>
        </p:nvSpPr>
        <p:spPr>
          <a:xfrm>
            <a:off x="6172200" y="4919472"/>
            <a:ext cx="5532120" cy="960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72200" y="4919472"/>
            <a:ext cx="64008" cy="960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73368" y="4919472"/>
            <a:ext cx="5166360" cy="960120"/>
          </a:xfrm>
          <a:prstGeom prst="rect">
            <a:avLst/>
          </a:prstGeom>
          <a:noFill/>
        </p:spPr>
        <p:txBody>
          <a:bodyPr wrap="square" lIns="0" tIns="0" rIns="0" bIns="0" anchor="ctr">
            <a:spAutoFit/>
          </a:bodyPr>
          <a:lstStyle/>
          <a:p>
            <a:pPr algn="l"/>
            <a:r>
              <a:rPr sz="1350" b="1" i="0">
                <a:solidFill>
                  <a:srgbClr val="FFFFFF"/>
                </a:solidFill>
                <a:latin typeface="Segoe UI"/>
              </a:rPr>
              <a:t>Security context</a:t>
            </a:r>
          </a:p>
          <a:p>
            <a:pPr algn="l"/>
            <a:r>
              <a:rPr sz="1150" b="0" i="0">
                <a:solidFill>
                  <a:srgbClr val="93A3B8"/>
                </a:solidFill>
                <a:latin typeface="Segoe UI"/>
              </a:rPr>
              <a:t>runAsNonRoot · readOnlyRootFilesystem · drop caps</a:t>
            </a:r>
          </a:p>
        </p:txBody>
      </p:sp>
      <p:sp>
        <p:nvSpPr>
          <p:cNvPr id="29" name="Rectangle 28"/>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31" name="TextBox 30"/>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OBSERVABILITÉ (1/2) — MONITORING</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kube-prometheus-stack déployé sur le nœud dédié</a:t>
            </a:r>
          </a:p>
        </p:txBody>
      </p:sp>
      <p:sp>
        <p:nvSpPr>
          <p:cNvPr id="5" name="Rounded Rectangle 4"/>
          <p:cNvSpPr/>
          <p:nvPr/>
        </p:nvSpPr>
        <p:spPr>
          <a:xfrm>
            <a:off x="502920" y="1645920"/>
            <a:ext cx="3639312" cy="26517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45920"/>
            <a:ext cx="3639312" cy="8229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65376"/>
            <a:ext cx="3310128" cy="640080"/>
          </a:xfrm>
          <a:prstGeom prst="rect">
            <a:avLst/>
          </a:prstGeom>
          <a:noFill/>
        </p:spPr>
        <p:txBody>
          <a:bodyPr wrap="square" lIns="0" tIns="0" rIns="0" bIns="0" anchor="t">
            <a:spAutoFit/>
          </a:bodyPr>
          <a:lstStyle/>
          <a:p>
            <a:pPr algn="l"/>
            <a:r>
              <a:rPr sz="1600" b="1" i="0">
                <a:solidFill>
                  <a:srgbClr val="FFFFFF"/>
                </a:solidFill>
                <a:latin typeface="Segoe UI"/>
              </a:rPr>
              <a:t>Prometheus</a:t>
            </a:r>
          </a:p>
          <a:p>
            <a:pPr algn="l"/>
            <a:r>
              <a:rPr sz="1200" b="1" i="0">
                <a:solidFill>
                  <a:srgbClr val="326CE5"/>
                </a:solidFill>
                <a:latin typeface="Segoe UI"/>
              </a:rPr>
              <a:t>Métriques</a:t>
            </a:r>
          </a:p>
        </p:txBody>
      </p:sp>
      <p:sp>
        <p:nvSpPr>
          <p:cNvPr id="8" name="TextBox 7"/>
          <p:cNvSpPr txBox="1"/>
          <p:nvPr/>
        </p:nvSpPr>
        <p:spPr>
          <a:xfrm>
            <a:off x="685800" y="2743200"/>
            <a:ext cx="3310128" cy="1371600"/>
          </a:xfrm>
          <a:prstGeom prst="rect">
            <a:avLst/>
          </a:prstGeom>
          <a:noFill/>
        </p:spPr>
        <p:txBody>
          <a:bodyPr wrap="square" lIns="0" tIns="0" rIns="0" bIns="0" anchor="t">
            <a:spAutoFit/>
          </a:bodyPr>
          <a:lstStyle/>
          <a:p>
            <a:pPr algn="l">
              <a:lnSpc>
                <a:spcPct val="105000"/>
              </a:lnSpc>
              <a:spcAft>
                <a:spcPts val="800"/>
              </a:spcAft>
            </a:pPr>
            <a:r>
              <a:rPr sz="1200" b="1" i="0">
                <a:solidFill>
                  <a:srgbClr val="326CE5"/>
                </a:solidFill>
                <a:latin typeface="Segoe UI"/>
              </a:rPr>
              <a:t>• </a:t>
            </a:r>
            <a:r>
              <a:rPr sz="1200" b="0" i="0">
                <a:solidFill>
                  <a:srgbClr val="E2E8F0"/>
                </a:solidFill>
                <a:latin typeface="Segoe UI"/>
              </a:rPr>
              <a:t>Scrape pods &amp; nœuds</a:t>
            </a:r>
          </a:p>
          <a:p>
            <a:pPr algn="l">
              <a:lnSpc>
                <a:spcPct val="105000"/>
              </a:lnSpc>
              <a:spcAft>
                <a:spcPts val="800"/>
              </a:spcAft>
            </a:pPr>
            <a:r>
              <a:rPr sz="1200" b="1" i="0">
                <a:solidFill>
                  <a:srgbClr val="326CE5"/>
                </a:solidFill>
                <a:latin typeface="Segoe UI"/>
              </a:rPr>
              <a:t>• </a:t>
            </a:r>
            <a:r>
              <a:rPr sz="1200" b="0" i="0">
                <a:solidFill>
                  <a:srgbClr val="E2E8F0"/>
                </a:solidFill>
                <a:latin typeface="Segoe UI"/>
              </a:rPr>
              <a:t>Rétention configurée</a:t>
            </a:r>
          </a:p>
          <a:p>
            <a:pPr algn="l">
              <a:lnSpc>
                <a:spcPct val="105000"/>
              </a:lnSpc>
              <a:spcAft>
                <a:spcPts val="800"/>
              </a:spcAft>
            </a:pPr>
            <a:r>
              <a:rPr sz="1200" b="1" i="0">
                <a:solidFill>
                  <a:srgbClr val="326CE5"/>
                </a:solidFill>
                <a:latin typeface="Segoe UI"/>
              </a:rPr>
              <a:t>• </a:t>
            </a:r>
            <a:r>
              <a:rPr sz="1200" b="0" i="0">
                <a:solidFill>
                  <a:srgbClr val="E2E8F0"/>
                </a:solidFill>
                <a:latin typeface="Segoe UI"/>
              </a:rPr>
              <a:t>ServiceMonitors app</a:t>
            </a:r>
          </a:p>
        </p:txBody>
      </p:sp>
      <p:sp>
        <p:nvSpPr>
          <p:cNvPr id="9" name="Rounded Rectangle 8"/>
          <p:cNvSpPr/>
          <p:nvPr/>
        </p:nvSpPr>
        <p:spPr>
          <a:xfrm>
            <a:off x="4325112" y="1645920"/>
            <a:ext cx="3639312" cy="26517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5112" y="1645920"/>
            <a:ext cx="363931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7992" y="1865376"/>
            <a:ext cx="3310128" cy="640080"/>
          </a:xfrm>
          <a:prstGeom prst="rect">
            <a:avLst/>
          </a:prstGeom>
          <a:noFill/>
        </p:spPr>
        <p:txBody>
          <a:bodyPr wrap="square" lIns="0" tIns="0" rIns="0" bIns="0" anchor="t">
            <a:spAutoFit/>
          </a:bodyPr>
          <a:lstStyle/>
          <a:p>
            <a:pPr algn="l"/>
            <a:r>
              <a:rPr sz="1600" b="1" i="0">
                <a:solidFill>
                  <a:srgbClr val="FFFFFF"/>
                </a:solidFill>
                <a:latin typeface="Segoe UI"/>
              </a:rPr>
              <a:t>Alertmanager</a:t>
            </a:r>
          </a:p>
          <a:p>
            <a:pPr algn="l"/>
            <a:r>
              <a:rPr sz="1200" b="1" i="0">
                <a:solidFill>
                  <a:srgbClr val="F59E0B"/>
                </a:solidFill>
                <a:latin typeface="Segoe UI"/>
              </a:rPr>
              <a:t>Alertes</a:t>
            </a:r>
          </a:p>
        </p:txBody>
      </p:sp>
      <p:sp>
        <p:nvSpPr>
          <p:cNvPr id="12" name="TextBox 11"/>
          <p:cNvSpPr txBox="1"/>
          <p:nvPr/>
        </p:nvSpPr>
        <p:spPr>
          <a:xfrm>
            <a:off x="4507992" y="2743200"/>
            <a:ext cx="3310128" cy="1371600"/>
          </a:xfrm>
          <a:prstGeom prst="rect">
            <a:avLst/>
          </a:prstGeom>
          <a:noFill/>
        </p:spPr>
        <p:txBody>
          <a:bodyPr wrap="square" lIns="0" tIns="0" rIns="0" bIns="0" anchor="t">
            <a:spAutoFit/>
          </a:bodyPr>
          <a:lstStyle/>
          <a:p>
            <a:pPr algn="l">
              <a:lnSpc>
                <a:spcPct val="105000"/>
              </a:lnSpc>
              <a:spcAft>
                <a:spcPts val="800"/>
              </a:spcAft>
            </a:pPr>
            <a:r>
              <a:rPr sz="1200" b="1" i="0">
                <a:solidFill>
                  <a:srgbClr val="F59E0B"/>
                </a:solidFill>
                <a:latin typeface="Segoe UI"/>
              </a:rPr>
              <a:t>• </a:t>
            </a:r>
            <a:r>
              <a:rPr sz="1200" b="0" i="0">
                <a:solidFill>
                  <a:srgbClr val="E2E8F0"/>
                </a:solidFill>
                <a:latin typeface="Segoe UI"/>
              </a:rPr>
              <a:t>Alertes sur seuils</a:t>
            </a:r>
          </a:p>
          <a:p>
            <a:pPr algn="l">
              <a:lnSpc>
                <a:spcPct val="105000"/>
              </a:lnSpc>
              <a:spcAft>
                <a:spcPts val="800"/>
              </a:spcAft>
            </a:pPr>
            <a:r>
              <a:rPr sz="1200" b="1" i="0">
                <a:solidFill>
                  <a:srgbClr val="F59E0B"/>
                </a:solidFill>
                <a:latin typeface="Segoe UI"/>
              </a:rPr>
              <a:t>• </a:t>
            </a:r>
            <a:r>
              <a:rPr sz="1200" b="0" i="0">
                <a:solidFill>
                  <a:srgbClr val="E2E8F0"/>
                </a:solidFill>
                <a:latin typeface="Segoe UI"/>
              </a:rPr>
              <a:t>Routage des notifications</a:t>
            </a:r>
          </a:p>
          <a:p>
            <a:pPr algn="l">
              <a:lnSpc>
                <a:spcPct val="105000"/>
              </a:lnSpc>
              <a:spcAft>
                <a:spcPts val="800"/>
              </a:spcAft>
            </a:pPr>
            <a:r>
              <a:rPr sz="1200" b="1" i="0">
                <a:solidFill>
                  <a:srgbClr val="F59E0B"/>
                </a:solidFill>
                <a:latin typeface="Segoe UI"/>
              </a:rPr>
              <a:t>• </a:t>
            </a:r>
            <a:r>
              <a:rPr sz="1200" b="0" i="0">
                <a:solidFill>
                  <a:srgbClr val="E2E8F0"/>
                </a:solidFill>
                <a:latin typeface="Segoe UI"/>
              </a:rPr>
              <a:t>Haute disponibilité</a:t>
            </a:r>
          </a:p>
        </p:txBody>
      </p:sp>
      <p:sp>
        <p:nvSpPr>
          <p:cNvPr id="13" name="Rounded Rectangle 12"/>
          <p:cNvSpPr/>
          <p:nvPr/>
        </p:nvSpPr>
        <p:spPr>
          <a:xfrm>
            <a:off x="8147304" y="1645920"/>
            <a:ext cx="3639312" cy="26517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47304" y="1645920"/>
            <a:ext cx="3639312" cy="82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0184" y="1865376"/>
            <a:ext cx="3310128" cy="640080"/>
          </a:xfrm>
          <a:prstGeom prst="rect">
            <a:avLst/>
          </a:prstGeom>
          <a:noFill/>
        </p:spPr>
        <p:txBody>
          <a:bodyPr wrap="square" lIns="0" tIns="0" rIns="0" bIns="0" anchor="t">
            <a:spAutoFit/>
          </a:bodyPr>
          <a:lstStyle/>
          <a:p>
            <a:pPr algn="l"/>
            <a:r>
              <a:rPr sz="1600" b="1" i="0">
                <a:solidFill>
                  <a:srgbClr val="FFFFFF"/>
                </a:solidFill>
                <a:latin typeface="Segoe UI"/>
              </a:rPr>
              <a:t>Grafana</a:t>
            </a:r>
          </a:p>
          <a:p>
            <a:pPr algn="l"/>
            <a:r>
              <a:rPr sz="1200" b="1" i="0">
                <a:solidFill>
                  <a:srgbClr val="22C55E"/>
                </a:solidFill>
                <a:latin typeface="Segoe UI"/>
              </a:rPr>
              <a:t>Visualisation</a:t>
            </a:r>
          </a:p>
        </p:txBody>
      </p:sp>
      <p:sp>
        <p:nvSpPr>
          <p:cNvPr id="16" name="TextBox 15"/>
          <p:cNvSpPr txBox="1"/>
          <p:nvPr/>
        </p:nvSpPr>
        <p:spPr>
          <a:xfrm>
            <a:off x="8330184" y="2743200"/>
            <a:ext cx="3310128" cy="1371600"/>
          </a:xfrm>
          <a:prstGeom prst="rect">
            <a:avLst/>
          </a:prstGeom>
          <a:noFill/>
        </p:spPr>
        <p:txBody>
          <a:bodyPr wrap="square" lIns="0" tIns="0" rIns="0" bIns="0" anchor="t">
            <a:spAutoFit/>
          </a:bodyPr>
          <a:lstStyle/>
          <a:p>
            <a:pPr algn="l">
              <a:lnSpc>
                <a:spcPct val="105000"/>
              </a:lnSpc>
              <a:spcAft>
                <a:spcPts val="800"/>
              </a:spcAft>
            </a:pPr>
            <a:r>
              <a:rPr sz="1200" b="1" i="0">
                <a:solidFill>
                  <a:srgbClr val="22C55E"/>
                </a:solidFill>
                <a:latin typeface="Segoe UI"/>
              </a:rPr>
              <a:t>• </a:t>
            </a:r>
            <a:r>
              <a:rPr sz="1200" b="0" i="0">
                <a:solidFill>
                  <a:srgbClr val="E2E8F0"/>
                </a:solidFill>
                <a:latin typeface="Segoe UI"/>
              </a:rPr>
              <a:t>Dashboards cluster &amp; app</a:t>
            </a:r>
          </a:p>
          <a:p>
            <a:pPr algn="l">
              <a:lnSpc>
                <a:spcPct val="105000"/>
              </a:lnSpc>
              <a:spcAft>
                <a:spcPts val="800"/>
              </a:spcAft>
            </a:pPr>
            <a:r>
              <a:rPr sz="1200" b="1" i="0">
                <a:solidFill>
                  <a:srgbClr val="22C55E"/>
                </a:solidFill>
                <a:latin typeface="Segoe UI"/>
              </a:rPr>
              <a:t>• </a:t>
            </a:r>
            <a:r>
              <a:rPr sz="1200" b="0" i="0">
                <a:solidFill>
                  <a:srgbClr val="E2E8F0"/>
                </a:solidFill>
                <a:latin typeface="Segoe UI"/>
              </a:rPr>
              <a:t>Métriques + logs (Loki)</a:t>
            </a:r>
          </a:p>
          <a:p>
            <a:pPr algn="l">
              <a:lnSpc>
                <a:spcPct val="105000"/>
              </a:lnSpc>
              <a:spcAft>
                <a:spcPts val="800"/>
              </a:spcAft>
            </a:pPr>
            <a:r>
              <a:rPr sz="1200" b="1" i="0">
                <a:solidFill>
                  <a:srgbClr val="22C55E"/>
                </a:solidFill>
                <a:latin typeface="Segoe UI"/>
              </a:rPr>
              <a:t>• </a:t>
            </a:r>
            <a:r>
              <a:rPr sz="1200" b="0" i="0">
                <a:solidFill>
                  <a:srgbClr val="E2E8F0"/>
                </a:solidFill>
                <a:latin typeface="Segoe UI"/>
              </a:rPr>
              <a:t>Une seule UI</a:t>
            </a:r>
          </a:p>
        </p:txBody>
      </p:sp>
      <p:sp>
        <p:nvSpPr>
          <p:cNvPr id="17" name="Rounded Rectangle 16"/>
          <p:cNvSpPr/>
          <p:nvPr/>
        </p:nvSpPr>
        <p:spPr>
          <a:xfrm>
            <a:off x="502920" y="4526280"/>
            <a:ext cx="11201400" cy="14173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4526280"/>
            <a:ext cx="64008" cy="14173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4672584"/>
            <a:ext cx="10853928" cy="1143000"/>
          </a:xfrm>
          <a:prstGeom prst="rect">
            <a:avLst/>
          </a:prstGeom>
          <a:noFill/>
        </p:spPr>
        <p:txBody>
          <a:bodyPr wrap="square" lIns="0" tIns="0" rIns="0" bIns="0" anchor="t">
            <a:spAutoFit/>
          </a:bodyPr>
          <a:lstStyle/>
          <a:p>
            <a:pPr algn="l">
              <a:lnSpc>
                <a:spcPct val="115000"/>
              </a:lnSpc>
              <a:spcAft>
                <a:spcPts val="400"/>
              </a:spcAft>
            </a:pPr>
            <a:r>
              <a:rPr sz="1300" b="1" i="0">
                <a:solidFill>
                  <a:srgbClr val="93A3B8"/>
                </a:solidFill>
                <a:latin typeface="Segoe UI"/>
              </a:rPr>
              <a:t>Stack réelle : </a:t>
            </a:r>
            <a:r>
              <a:rPr sz="1300" b="1" i="0">
                <a:solidFill>
                  <a:srgbClr val="FFFFFF"/>
                </a:solidFill>
                <a:latin typeface="Consolas"/>
              </a:rPr>
              <a:t>kube-prometheus-stack 82.16.1</a:t>
            </a:r>
            <a:r>
              <a:rPr sz="1300" b="0" i="0">
                <a:solidFill>
                  <a:srgbClr val="E2E8F0"/>
                </a:solidFill>
                <a:latin typeface="Segoe UI"/>
              </a:rPr>
              <a:t>  ·  prometheus-operator v0.89  ·  Grafana 12  —  namespace </a:t>
            </a:r>
            <a:r>
              <a:rPr sz="1300" b="1" i="0">
                <a:solidFill>
                  <a:srgbClr val="F59E0B"/>
                </a:solidFill>
                <a:latin typeface="Consolas"/>
              </a:rPr>
              <a:t>monitoring</a:t>
            </a:r>
            <a:r>
              <a:rPr sz="1300" b="0" i="0">
                <a:solidFill>
                  <a:srgbClr val="E2E8F0"/>
                </a:solidFill>
                <a:latin typeface="Segoe UI"/>
              </a:rPr>
              <a:t>, épinglé sur node-4.</a:t>
            </a:r>
          </a:p>
        </p:txBody>
      </p:sp>
      <p:sp>
        <p:nvSpPr>
          <p:cNvPr id="20" name="Rectangle 19"/>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22" name="TextBox 21"/>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OBSERVABILITÉ (2/2) — LOGS &amp; DASHBOARD</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Logs centralisés et console d'administration</a:t>
            </a:r>
          </a:p>
        </p:txBody>
      </p:sp>
      <p:sp>
        <p:nvSpPr>
          <p:cNvPr id="5" name="Rounded Rectangle 4"/>
          <p:cNvSpPr/>
          <p:nvPr/>
        </p:nvSpPr>
        <p:spPr>
          <a:xfrm>
            <a:off x="502920" y="1645920"/>
            <a:ext cx="5532120" cy="41148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45920"/>
            <a:ext cx="64008" cy="41148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92224"/>
            <a:ext cx="5184648" cy="38404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Logging — Loki + Promtail</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Promtail (DaemonSet) collecte les logs de tous les pods</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Loki indexe et agrège, avec persistance</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Grafana sert d'interface de recherche</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Source de données Loki ajoutée → logs visualisables</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Requête type : {namespace="laravel"}</a:t>
            </a:r>
          </a:p>
        </p:txBody>
      </p:sp>
      <p:sp>
        <p:nvSpPr>
          <p:cNvPr id="8" name="Rounded Rectangle 7"/>
          <p:cNvSpPr/>
          <p:nvPr/>
        </p:nvSpPr>
        <p:spPr>
          <a:xfrm>
            <a:off x="6172200" y="1645920"/>
            <a:ext cx="5532120" cy="41148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645920"/>
            <a:ext cx="64008" cy="41148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792224"/>
            <a:ext cx="5184648" cy="38404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Kubernetes Dashboard</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Console web d'administration du cluster</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ServiceAccount admin-user dédié</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Accès RBAC via ClusterRoleBinding + token</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Exposé via Ingress</a:t>
            </a:r>
          </a:p>
          <a:p>
            <a:pPr algn="l">
              <a:lnSpc>
                <a:spcPct val="105000"/>
              </a:lnSpc>
              <a:spcAft>
                <a:spcPts val="1100"/>
              </a:spcAft>
            </a:pPr>
            <a:r>
              <a:rPr sz="1300" b="1" i="0">
                <a:solidFill>
                  <a:srgbClr val="326CE5"/>
                </a:solidFill>
                <a:latin typeface="Segoe UI"/>
              </a:rPr>
              <a:t>▸ </a:t>
            </a:r>
            <a:r>
              <a:rPr sz="1300" b="0" i="0">
                <a:solidFill>
                  <a:srgbClr val="E2E8F0"/>
                </a:solidFill>
                <a:latin typeface="Segoe UI"/>
              </a:rPr>
              <a:t>Vue temps réel : pods, déploiements, events</a:t>
            </a:r>
          </a:p>
        </p:txBody>
      </p:sp>
      <p:sp>
        <p:nvSpPr>
          <p:cNvPr id="11" name="Rectangle 10"/>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3" name="TextBox 12"/>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GITOPS</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ArgoCD : le cluster se synchronise sur Git</a:t>
            </a:r>
          </a:p>
        </p:txBody>
      </p:sp>
      <p:sp>
        <p:nvSpPr>
          <p:cNvPr id="5" name="Rounded Rectangle 4"/>
          <p:cNvSpPr/>
          <p:nvPr/>
        </p:nvSpPr>
        <p:spPr>
          <a:xfrm>
            <a:off x="502920" y="1554480"/>
            <a:ext cx="5532120" cy="23317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64008" cy="23317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00784"/>
            <a:ext cx="5184648" cy="205740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Principe</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Git = source de vérité de l'état désiré</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ArgoCD réconcilie le cluster en continu</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AppProject kubequest + accès repo privé (token SSO SAML)</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Helm activé dans Kustomize (--enable-helm)</a:t>
            </a:r>
          </a:p>
        </p:txBody>
      </p:sp>
      <p:sp>
        <p:nvSpPr>
          <p:cNvPr id="8" name="Rounded Rectangle 7"/>
          <p:cNvSpPr/>
          <p:nvPr/>
        </p:nvSpPr>
        <p:spPr>
          <a:xfrm>
            <a:off x="502920" y="4023360"/>
            <a:ext cx="5532120" cy="19202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4023360"/>
            <a:ext cx="64008" cy="19202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4169664"/>
            <a:ext cx="5184648" cy="16459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Infrastructure — 6 Applications par composant</a:t>
            </a:r>
          </a:p>
          <a:p>
            <a:pPr algn="l">
              <a:lnSpc>
                <a:spcPct val="115000"/>
              </a:lnSpc>
              <a:spcAft>
                <a:spcPts val="600"/>
              </a:spcAft>
            </a:pPr>
            <a:r>
              <a:rPr sz="1200" b="0" i="0">
                <a:solidFill>
                  <a:srgbClr val="E2E8F0"/>
                </a:solidFill>
                <a:latin typeface="Segoe UI"/>
              </a:rPr>
              <a:t>nginx-ingress · cert-manager · dashboard · monitoring · logging · security</a:t>
            </a:r>
          </a:p>
          <a:p>
            <a:pPr algn="l">
              <a:lnSpc>
                <a:spcPct val="110000"/>
              </a:lnSpc>
              <a:spcAft>
                <a:spcPts val="200"/>
              </a:spcAft>
            </a:pPr>
            <a:r>
              <a:rPr sz="1150" b="0" i="1">
                <a:solidFill>
                  <a:srgbClr val="93A3B8"/>
                </a:solidFill>
                <a:latin typeface="Segoe UI"/>
              </a:rPr>
              <a:t>Sync manuel — volontaire, pour ne pas perturber l'infra vivante.</a:t>
            </a:r>
          </a:p>
        </p:txBody>
      </p:sp>
      <p:sp>
        <p:nvSpPr>
          <p:cNvPr id="11" name="Rounded Rectangle 10"/>
          <p:cNvSpPr/>
          <p:nvPr/>
        </p:nvSpPr>
        <p:spPr>
          <a:xfrm>
            <a:off x="6172200" y="1554480"/>
            <a:ext cx="5532120" cy="438912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54480"/>
            <a:ext cx="64008" cy="4389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700784"/>
            <a:ext cx="5184648" cy="411480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Application Laravel — le livrable GitOps</a:t>
            </a:r>
          </a:p>
          <a:p>
            <a:pPr algn="l">
              <a:lnSpc>
                <a:spcPct val="110000"/>
              </a:lnSpc>
              <a:spcAft>
                <a:spcPts val="900"/>
              </a:spcAft>
            </a:pPr>
            <a:r>
              <a:rPr sz="1300" b="0" i="0">
                <a:solidFill>
                  <a:srgbClr val="E2E8F0"/>
                </a:solidFill>
                <a:latin typeface="Segoe UI"/>
              </a:rPr>
              <a:t>Statut : </a:t>
            </a:r>
            <a:r>
              <a:rPr sz="1300" b="1" i="0">
                <a:solidFill>
                  <a:srgbClr val="22C55E"/>
                </a:solidFill>
                <a:latin typeface="Segoe UI"/>
              </a:rPr>
              <a:t>Synced / Healthy</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Auto-sync : prune + selfHeal</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Tout push sur main → redéploiement automatique</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Namespace dédié laravel-app-prod</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Health-check custom Ingress dans argocd-cm</a:t>
            </a:r>
          </a:p>
          <a:p>
            <a:pPr algn="l">
              <a:lnSpc>
                <a:spcPct val="110000"/>
              </a:lnSpc>
              <a:spcAft>
                <a:spcPts val="200"/>
              </a:spcAft>
            </a:pPr>
            <a:r>
              <a:rPr sz="1150" b="0" i="1">
                <a:solidFill>
                  <a:srgbClr val="93A3B8"/>
                </a:solidFill>
                <a:latin typeface="Segoe UI"/>
              </a:rPr>
              <a:t>Séparation nette : l'app en pull automatique, l'infra sous contrôle manuel.</a:t>
            </a:r>
          </a:p>
        </p:txBody>
      </p:sp>
      <p:sp>
        <p:nvSpPr>
          <p:cNvPr id="14" name="Rectangle 13"/>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6" name="TextBox 15"/>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F59E0B"/>
                </a:solidFill>
                <a:latin typeface="Segoe UI"/>
              </a:rPr>
              <a:t>SÉCURITÉ (1/2) — ADMISSION &amp; CONFIANCE</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Le cluster impose lui-même les bonnes pratiques</a:t>
            </a:r>
          </a:p>
        </p:txBody>
      </p:sp>
      <p:sp>
        <p:nvSpPr>
          <p:cNvPr id="5" name="Rounded Rectangle 4"/>
          <p:cNvSpPr/>
          <p:nvPr/>
        </p:nvSpPr>
        <p:spPr>
          <a:xfrm>
            <a:off x="502920" y="1600200"/>
            <a:ext cx="5532120" cy="420624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64008" cy="4206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46504"/>
            <a:ext cx="5184648" cy="393192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OPA / Gatekeeper — Validating Webhook</a:t>
            </a:r>
          </a:p>
          <a:p>
            <a:pPr algn="l">
              <a:lnSpc>
                <a:spcPct val="112000"/>
              </a:lnSpc>
              <a:spcAft>
                <a:spcPts val="900"/>
              </a:spcAft>
            </a:pPr>
            <a:r>
              <a:rPr sz="1250" b="0" i="0">
                <a:solidFill>
                  <a:srgbClr val="E2E8F0"/>
                </a:solidFill>
                <a:latin typeface="Segoe UI"/>
              </a:rPr>
              <a:t>À chaque apply, l'API server consulte le webhook, qui refuse ce qui est non conforme :</a:t>
            </a:r>
          </a:p>
          <a:p>
            <a:pPr algn="l">
              <a:lnSpc>
                <a:spcPct val="105000"/>
              </a:lnSpc>
              <a:spcAft>
                <a:spcPts val="800"/>
              </a:spcAft>
            </a:pPr>
            <a:r>
              <a:rPr sz="1250" b="1" i="0">
                <a:solidFill>
                  <a:srgbClr val="326CE5"/>
                </a:solidFill>
                <a:latin typeface="Segoe UI"/>
              </a:rPr>
              <a:t>▸ </a:t>
            </a:r>
            <a:r>
              <a:rPr sz="1250" b="0" i="0">
                <a:solidFill>
                  <a:srgbClr val="E2E8F0"/>
                </a:solidFill>
                <a:latin typeface="Segoe UI"/>
              </a:rPr>
              <a:t>Pod sans label obligatoire → refusé</a:t>
            </a:r>
          </a:p>
          <a:p>
            <a:pPr algn="l">
              <a:lnSpc>
                <a:spcPct val="105000"/>
              </a:lnSpc>
              <a:spcAft>
                <a:spcPts val="800"/>
              </a:spcAft>
            </a:pPr>
            <a:r>
              <a:rPr sz="1250" b="1" i="0">
                <a:solidFill>
                  <a:srgbClr val="326CE5"/>
                </a:solidFill>
                <a:latin typeface="Segoe UI"/>
              </a:rPr>
              <a:t>▸ </a:t>
            </a:r>
            <a:r>
              <a:rPr sz="1250" b="0" i="0">
                <a:solidFill>
                  <a:srgbClr val="E2E8F0"/>
                </a:solidFill>
                <a:latin typeface="Segoe UI"/>
              </a:rPr>
              <a:t>Conteneur en root (runAsUser 0) → refusé</a:t>
            </a:r>
          </a:p>
          <a:p>
            <a:pPr algn="l">
              <a:lnSpc>
                <a:spcPct val="105000"/>
              </a:lnSpc>
              <a:spcAft>
                <a:spcPts val="800"/>
              </a:spcAft>
            </a:pPr>
            <a:r>
              <a:rPr sz="1250" b="1" i="0">
                <a:solidFill>
                  <a:srgbClr val="326CE5"/>
                </a:solidFill>
                <a:latin typeface="Segoe UI"/>
              </a:rPr>
              <a:t>▸ </a:t>
            </a:r>
            <a:r>
              <a:rPr sz="1250" b="0" i="0">
                <a:solidFill>
                  <a:srgbClr val="E2E8F0"/>
                </a:solidFill>
                <a:latin typeface="Segoe UI"/>
              </a:rPr>
              <a:t>Conteneur sans resources (limits) → refusé</a:t>
            </a:r>
          </a:p>
          <a:p>
            <a:pPr algn="l">
              <a:lnSpc>
                <a:spcPct val="105000"/>
              </a:lnSpc>
              <a:spcAft>
                <a:spcPts val="800"/>
              </a:spcAft>
            </a:pPr>
            <a:r>
              <a:rPr sz="1250" b="1" i="0">
                <a:solidFill>
                  <a:srgbClr val="326CE5"/>
                </a:solidFill>
                <a:latin typeface="Segoe UI"/>
              </a:rPr>
              <a:t>▸ </a:t>
            </a:r>
            <a:r>
              <a:rPr sz="1250" b="0" i="0">
                <a:solidFill>
                  <a:srgbClr val="E2E8F0"/>
                </a:solidFill>
                <a:latin typeface="Segoe UI"/>
              </a:rPr>
              <a:t>Déploiement &lt; 2 replicas → refusé</a:t>
            </a:r>
          </a:p>
          <a:p>
            <a:pPr algn="l">
              <a:lnSpc>
                <a:spcPct val="110000"/>
              </a:lnSpc>
              <a:spcAft>
                <a:spcPts val="200"/>
              </a:spcAft>
            </a:pPr>
            <a:r>
              <a:rPr sz="1100" b="0" i="1">
                <a:solidFill>
                  <a:srgbClr val="93A3B8"/>
                </a:solidFill>
                <a:latin typeface="Segoe UI"/>
              </a:rPr>
              <a:t>Implémentation sûre : Gatekeeper (fail-open, exclut les ns système) — </a:t>
            </a:r>
            <a:r>
              <a:rPr sz="1100" b="0" i="1">
                <a:solidFill>
                  <a:srgbClr val="F59E0B"/>
                </a:solidFill>
                <a:latin typeface="Segoe UI"/>
              </a:rPr>
              <a:t>remplace un OPA « maison » qui aurait bloqué tout le cluster.</a:t>
            </a:r>
          </a:p>
        </p:txBody>
      </p:sp>
      <p:sp>
        <p:nvSpPr>
          <p:cNvPr id="8" name="Rounded Rectangle 7"/>
          <p:cNvSpPr/>
          <p:nvPr/>
        </p:nvSpPr>
        <p:spPr>
          <a:xfrm>
            <a:off x="6172200" y="1600200"/>
            <a:ext cx="5532120" cy="201168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600200"/>
            <a:ext cx="64008" cy="201168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746504"/>
            <a:ext cx="5184648" cy="173736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TLS &amp; chiffrement</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cert-manager + ClusterIssuer</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HTTPS automatique sur les Ingress</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Trafic externe chiffré de bout en bout</a:t>
            </a:r>
          </a:p>
        </p:txBody>
      </p:sp>
      <p:sp>
        <p:nvSpPr>
          <p:cNvPr id="11" name="Rounded Rectangle 10"/>
          <p:cNvSpPr/>
          <p:nvPr/>
        </p:nvSpPr>
        <p:spPr>
          <a:xfrm>
            <a:off x="6172200" y="3794760"/>
            <a:ext cx="5532120" cy="201168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3794760"/>
            <a:ext cx="64008" cy="201168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3941064"/>
            <a:ext cx="5184648" cy="173736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RBAC &amp; secrets</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ServiceAccounts + ClusterRoleBindings dédiés</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Moindre privilège par composant</a:t>
            </a:r>
          </a:p>
          <a:p>
            <a:pPr algn="l">
              <a:lnSpc>
                <a:spcPct val="105000"/>
              </a:lnSpc>
              <a:spcAft>
                <a:spcPts val="500"/>
              </a:spcAft>
            </a:pPr>
            <a:r>
              <a:rPr sz="1250" b="1" i="0">
                <a:solidFill>
                  <a:srgbClr val="326CE5"/>
                </a:solidFill>
                <a:latin typeface="Segoe UI"/>
              </a:rPr>
              <a:t>▸ </a:t>
            </a:r>
            <a:r>
              <a:rPr sz="1250" b="0" i="0">
                <a:solidFill>
                  <a:srgbClr val="E2E8F0"/>
                </a:solidFill>
                <a:latin typeface="Segoe UI"/>
              </a:rPr>
              <a:t>Secrets K8s (jamais de mot de passe en clair)</a:t>
            </a:r>
          </a:p>
        </p:txBody>
      </p:sp>
      <p:sp>
        <p:nvSpPr>
          <p:cNvPr id="14" name="Rectangle 13"/>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6" name="TextBox 15"/>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F59E0B"/>
                </a:solidFill>
                <a:latin typeface="Segoe UI"/>
              </a:rPr>
              <a:t>SÉCURITÉ (2/2) — CONTRÔLE D'ACCÈS</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Authentification unifiée devant les outils</a:t>
            </a:r>
          </a:p>
        </p:txBody>
      </p:sp>
      <p:sp>
        <p:nvSpPr>
          <p:cNvPr id="5" name="Rounded Rectangle 4"/>
          <p:cNvSpPr/>
          <p:nvPr/>
        </p:nvSpPr>
        <p:spPr>
          <a:xfrm>
            <a:off x="502920" y="1645920"/>
            <a:ext cx="5532120" cy="41148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45920"/>
            <a:ext cx="64008" cy="4114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92224"/>
            <a:ext cx="5184648" cy="38404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SSO — dex + oauth2-proxy</a:t>
            </a:r>
          </a:p>
          <a:p>
            <a:pPr algn="l">
              <a:lnSpc>
                <a:spcPct val="115000"/>
              </a:lnSpc>
              <a:spcAft>
                <a:spcPts val="1000"/>
              </a:spcAft>
            </a:pPr>
            <a:r>
              <a:rPr sz="1300" b="0" i="0">
                <a:solidFill>
                  <a:srgbClr val="E2E8F0"/>
                </a:solidFill>
                <a:latin typeface="Segoe UI"/>
              </a:rPr>
              <a:t>Authentification unifiée (OIDC) devant les outils d'exploitation.</a:t>
            </a:r>
          </a:p>
          <a:p>
            <a:pPr algn="l">
              <a:lnSpc>
                <a:spcPct val="105000"/>
              </a:lnSpc>
              <a:spcAft>
                <a:spcPts val="1000"/>
              </a:spcAft>
            </a:pPr>
            <a:r>
              <a:rPr sz="1250" b="1" i="0">
                <a:solidFill>
                  <a:srgbClr val="326CE5"/>
                </a:solidFill>
                <a:latin typeface="Segoe UI"/>
              </a:rPr>
              <a:t>▸ </a:t>
            </a:r>
            <a:r>
              <a:rPr sz="1250" b="0" i="0">
                <a:solidFill>
                  <a:srgbClr val="E2E8F0"/>
                </a:solidFill>
                <a:latin typeface="Segoe UI"/>
              </a:rPr>
              <a:t>Accès non authentifié à Prometheus → redirigé (302) vers dex</a:t>
            </a:r>
          </a:p>
          <a:p>
            <a:pPr algn="l">
              <a:lnSpc>
                <a:spcPct val="105000"/>
              </a:lnSpc>
              <a:spcAft>
                <a:spcPts val="1000"/>
              </a:spcAft>
            </a:pPr>
            <a:r>
              <a:rPr sz="1250" b="1" i="0">
                <a:solidFill>
                  <a:srgbClr val="326CE5"/>
                </a:solidFill>
                <a:latin typeface="Segoe UI"/>
              </a:rPr>
              <a:t>▸ </a:t>
            </a:r>
            <a:r>
              <a:rPr sz="1250" b="0" i="0">
                <a:solidFill>
                  <a:srgbClr val="E2E8F0"/>
                </a:solidFill>
                <a:latin typeface="Segoe UI"/>
              </a:rPr>
              <a:t>Un seul point d'authentification</a:t>
            </a:r>
          </a:p>
          <a:p>
            <a:pPr algn="l">
              <a:lnSpc>
                <a:spcPct val="105000"/>
              </a:lnSpc>
              <a:spcAft>
                <a:spcPts val="1000"/>
              </a:spcAft>
            </a:pPr>
            <a:r>
              <a:rPr sz="1250" b="1" i="0">
                <a:solidFill>
                  <a:srgbClr val="326CE5"/>
                </a:solidFill>
                <a:latin typeface="Segoe UI"/>
              </a:rPr>
              <a:t>▸ </a:t>
            </a:r>
            <a:r>
              <a:rPr sz="1250" b="0" i="0">
                <a:solidFill>
                  <a:srgbClr val="E2E8F0"/>
                </a:solidFill>
                <a:latin typeface="Segoe UI"/>
              </a:rPr>
              <a:t>Réduit la surface d'exposition des outils</a:t>
            </a:r>
          </a:p>
        </p:txBody>
      </p:sp>
      <p:sp>
        <p:nvSpPr>
          <p:cNvPr id="8" name="Rounded Rectangle 7"/>
          <p:cNvSpPr/>
          <p:nvPr/>
        </p:nvSpPr>
        <p:spPr>
          <a:xfrm>
            <a:off x="6172200" y="1645920"/>
            <a:ext cx="5532120" cy="41148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645920"/>
            <a:ext cx="64008" cy="41148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792224"/>
            <a:ext cx="5184648" cy="3840480"/>
          </a:xfrm>
          <a:prstGeom prst="rect">
            <a:avLst/>
          </a:prstGeom>
          <a:noFill/>
        </p:spPr>
        <p:txBody>
          <a:bodyPr wrap="square" lIns="0" tIns="0" rIns="0" bIns="0" anchor="t">
            <a:spAutoFit/>
          </a:bodyPr>
          <a:lstStyle/>
          <a:p>
            <a:pPr algn="l">
              <a:spcAft>
                <a:spcPts val="700"/>
              </a:spcAft>
            </a:pPr>
            <a:r>
              <a:rPr sz="1500" b="1" i="0">
                <a:solidFill>
                  <a:srgbClr val="FFFFFF"/>
                </a:solidFill>
                <a:latin typeface="Segoe UI"/>
              </a:rPr>
              <a:t>Défense en profondeur</a:t>
            </a:r>
          </a:p>
          <a:p>
            <a:pPr algn="l">
              <a:lnSpc>
                <a:spcPct val="115000"/>
              </a:lnSpc>
              <a:spcAft>
                <a:spcPts val="1000"/>
              </a:spcAft>
            </a:pPr>
            <a:r>
              <a:rPr sz="1250" b="0" i="0">
                <a:solidFill>
                  <a:srgbClr val="E2E8F0"/>
                </a:solidFill>
                <a:latin typeface="Segoe UI"/>
              </a:rPr>
              <a:t>La sécurité est portée par plusieurs couches indépendantes :</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Basic-auth ajoutée devant Prometheus</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NetworkPolicies (isolation réseau)</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OPA/Gatekeeper (admission)</a:t>
            </a:r>
          </a:p>
          <a:p>
            <a:pPr algn="l">
              <a:lnSpc>
                <a:spcPct val="105000"/>
              </a:lnSpc>
              <a:spcAft>
                <a:spcPts val="900"/>
              </a:spcAft>
            </a:pPr>
            <a:r>
              <a:rPr sz="1250" b="1" i="0">
                <a:solidFill>
                  <a:srgbClr val="326CE5"/>
                </a:solidFill>
                <a:latin typeface="Segoe UI"/>
              </a:rPr>
              <a:t>▸ </a:t>
            </a:r>
            <a:r>
              <a:rPr sz="1250" b="0" i="0">
                <a:solidFill>
                  <a:srgbClr val="E2E8F0"/>
                </a:solidFill>
                <a:latin typeface="Segoe UI"/>
              </a:rPr>
              <a:t>TLS (cert-manager) + RBAC (moindre privilège)</a:t>
            </a:r>
          </a:p>
          <a:p>
            <a:pPr algn="l">
              <a:lnSpc>
                <a:spcPct val="110000"/>
              </a:lnSpc>
              <a:spcAft>
                <a:spcPts val="200"/>
              </a:spcAft>
            </a:pPr>
            <a:r>
              <a:rPr sz="1150" b="0" i="1">
                <a:solidFill>
                  <a:srgbClr val="93A3B8"/>
                </a:solidFill>
                <a:latin typeface="Segoe UI"/>
              </a:rPr>
              <a:t>Aucune couche unique n'est un point de défaillance.</a:t>
            </a:r>
          </a:p>
        </p:txBody>
      </p:sp>
      <p:sp>
        <p:nvSpPr>
          <p:cNvPr id="11" name="Rectangle 10"/>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13" name="TextBox 12"/>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02920" y="566928"/>
            <a:ext cx="82296" cy="50292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89920" cy="320040"/>
          </a:xfrm>
          <a:prstGeom prst="rect">
            <a:avLst/>
          </a:prstGeom>
          <a:noFill/>
        </p:spPr>
        <p:txBody>
          <a:bodyPr wrap="square" lIns="0" tIns="0" rIns="0" bIns="0" anchor="t">
            <a:spAutoFit/>
          </a:bodyPr>
          <a:lstStyle/>
          <a:p>
            <a:pPr algn="l"/>
            <a:r>
              <a:rPr sz="1200" b="1" i="0">
                <a:solidFill>
                  <a:srgbClr val="326CE5"/>
                </a:solidFill>
                <a:latin typeface="Segoe UI"/>
              </a:rPr>
              <a:t>RÉSILIENCE &amp; PREUVE</a:t>
            </a:r>
          </a:p>
        </p:txBody>
      </p:sp>
      <p:sp>
        <p:nvSpPr>
          <p:cNvPr id="4" name="TextBox 3"/>
          <p:cNvSpPr txBox="1"/>
          <p:nvPr/>
        </p:nvSpPr>
        <p:spPr>
          <a:xfrm>
            <a:off x="731520" y="786384"/>
            <a:ext cx="10881360" cy="640080"/>
          </a:xfrm>
          <a:prstGeom prst="rect">
            <a:avLst/>
          </a:prstGeom>
          <a:noFill/>
        </p:spPr>
        <p:txBody>
          <a:bodyPr wrap="square" lIns="0" tIns="0" rIns="0" bIns="0" anchor="t">
            <a:spAutoFit/>
          </a:bodyPr>
          <a:lstStyle/>
          <a:p>
            <a:pPr algn="l"/>
            <a:r>
              <a:rPr sz="2700" b="1" i="0">
                <a:solidFill>
                  <a:srgbClr val="FFFFFF"/>
                </a:solidFill>
                <a:latin typeface="Segoe UI"/>
              </a:rPr>
              <a:t>Mettre l'infra à l'épreuve — et l'observer en direct</a:t>
            </a:r>
          </a:p>
        </p:txBody>
      </p:sp>
      <p:sp>
        <p:nvSpPr>
          <p:cNvPr id="5" name="Rounded Rectangle 4"/>
          <p:cNvSpPr/>
          <p:nvPr/>
        </p:nvSpPr>
        <p:spPr>
          <a:xfrm>
            <a:off x="502920" y="1645920"/>
            <a:ext cx="3639312" cy="27432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45920"/>
            <a:ext cx="3639312" cy="8229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901952"/>
            <a:ext cx="3310128" cy="822960"/>
          </a:xfrm>
          <a:prstGeom prst="rect">
            <a:avLst/>
          </a:prstGeom>
          <a:noFill/>
        </p:spPr>
        <p:txBody>
          <a:bodyPr wrap="square" lIns="0" tIns="0" rIns="0" bIns="0" anchor="t">
            <a:spAutoFit/>
          </a:bodyPr>
          <a:lstStyle/>
          <a:p>
            <a:pPr algn="l"/>
            <a:r>
              <a:rPr sz="2000" b="0" i="0">
                <a:solidFill>
                  <a:srgbClr val="326CE5"/>
                </a:solidFill>
                <a:latin typeface="Segoe UI"/>
              </a:rPr>
              <a:t>📈  </a:t>
            </a:r>
            <a:r>
              <a:rPr sz="1500" b="1" i="0">
                <a:solidFill>
                  <a:srgbClr val="FFFFFF"/>
                </a:solidFill>
                <a:latin typeface="Segoe UI"/>
              </a:rPr>
              <a:t>Autoscaling</a:t>
            </a:r>
          </a:p>
        </p:txBody>
      </p:sp>
      <p:sp>
        <p:nvSpPr>
          <p:cNvPr id="8" name="TextBox 7"/>
          <p:cNvSpPr txBox="1"/>
          <p:nvPr/>
        </p:nvSpPr>
        <p:spPr>
          <a:xfrm>
            <a:off x="685800" y="2788920"/>
            <a:ext cx="3310128" cy="1463040"/>
          </a:xfrm>
          <a:prstGeom prst="rect">
            <a:avLst/>
          </a:prstGeom>
          <a:noFill/>
        </p:spPr>
        <p:txBody>
          <a:bodyPr wrap="square" lIns="0" tIns="0" rIns="0" bIns="0" anchor="t">
            <a:spAutoFit/>
          </a:bodyPr>
          <a:lstStyle/>
          <a:p>
            <a:pPr algn="l">
              <a:lnSpc>
                <a:spcPct val="105000"/>
              </a:lnSpc>
              <a:spcAft>
                <a:spcPts val="900"/>
              </a:spcAft>
            </a:pPr>
            <a:r>
              <a:rPr sz="1200" b="1" i="0">
                <a:solidFill>
                  <a:srgbClr val="326CE5"/>
                </a:solidFill>
                <a:latin typeface="Segoe UI"/>
              </a:rPr>
              <a:t>• </a:t>
            </a:r>
            <a:r>
              <a:rPr sz="1200" b="0" i="0">
                <a:solidFill>
                  <a:srgbClr val="E2E8F0"/>
                </a:solidFill>
                <a:latin typeface="Segoe UI"/>
              </a:rPr>
              <a:t>load-test ~400 req/s</a:t>
            </a:r>
          </a:p>
          <a:p>
            <a:pPr algn="l">
              <a:lnSpc>
                <a:spcPct val="105000"/>
              </a:lnSpc>
              <a:spcAft>
                <a:spcPts val="900"/>
              </a:spcAft>
            </a:pPr>
            <a:r>
              <a:rPr sz="1200" b="1" i="0">
                <a:solidFill>
                  <a:srgbClr val="326CE5"/>
                </a:solidFill>
                <a:latin typeface="Segoe UI"/>
              </a:rPr>
              <a:t>• </a:t>
            </a:r>
            <a:r>
              <a:rPr sz="1200" b="0" i="0">
                <a:solidFill>
                  <a:srgbClr val="E2E8F0"/>
                </a:solidFill>
                <a:latin typeface="Segoe UI"/>
              </a:rPr>
              <a:t>Pods 3 → 10 en direct</a:t>
            </a:r>
          </a:p>
          <a:p>
            <a:pPr algn="l">
              <a:lnSpc>
                <a:spcPct val="105000"/>
              </a:lnSpc>
              <a:spcAft>
                <a:spcPts val="900"/>
              </a:spcAft>
            </a:pPr>
            <a:r>
              <a:rPr sz="1200" b="1" i="0">
                <a:solidFill>
                  <a:srgbClr val="326CE5"/>
                </a:solidFill>
                <a:latin typeface="Segoe UI"/>
              </a:rPr>
              <a:t>• </a:t>
            </a:r>
            <a:r>
              <a:rPr sz="1200" b="0" i="0">
                <a:solidFill>
                  <a:srgbClr val="E2E8F0"/>
                </a:solidFill>
                <a:latin typeface="Segoe UI"/>
              </a:rPr>
              <a:t>Visible dans Grafana</a:t>
            </a:r>
          </a:p>
        </p:txBody>
      </p:sp>
      <p:sp>
        <p:nvSpPr>
          <p:cNvPr id="9" name="Rounded Rectangle 8"/>
          <p:cNvSpPr/>
          <p:nvPr/>
        </p:nvSpPr>
        <p:spPr>
          <a:xfrm>
            <a:off x="4325112" y="1645920"/>
            <a:ext cx="3639312" cy="27432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5112" y="1645920"/>
            <a:ext cx="363931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7992" y="1901952"/>
            <a:ext cx="3310128" cy="822960"/>
          </a:xfrm>
          <a:prstGeom prst="rect">
            <a:avLst/>
          </a:prstGeom>
          <a:noFill/>
        </p:spPr>
        <p:txBody>
          <a:bodyPr wrap="square" lIns="0" tIns="0" rIns="0" bIns="0" anchor="t">
            <a:spAutoFit/>
          </a:bodyPr>
          <a:lstStyle/>
          <a:p>
            <a:pPr algn="l"/>
            <a:r>
              <a:rPr sz="2000" b="0" i="0">
                <a:solidFill>
                  <a:srgbClr val="F59E0B"/>
                </a:solidFill>
                <a:latin typeface="Segoe UI"/>
              </a:rPr>
              <a:t>↩  </a:t>
            </a:r>
            <a:r>
              <a:rPr sz="1500" b="1" i="0">
                <a:solidFill>
                  <a:srgbClr val="FFFFFF"/>
                </a:solidFill>
                <a:latin typeface="Segoe UI"/>
              </a:rPr>
              <a:t>Rollback zéro-downtime</a:t>
            </a:r>
          </a:p>
        </p:txBody>
      </p:sp>
      <p:sp>
        <p:nvSpPr>
          <p:cNvPr id="12" name="TextBox 11"/>
          <p:cNvSpPr txBox="1"/>
          <p:nvPr/>
        </p:nvSpPr>
        <p:spPr>
          <a:xfrm>
            <a:off x="4507992" y="2788920"/>
            <a:ext cx="3310128" cy="1463040"/>
          </a:xfrm>
          <a:prstGeom prst="rect">
            <a:avLst/>
          </a:prstGeom>
          <a:noFill/>
        </p:spPr>
        <p:txBody>
          <a:bodyPr wrap="square" lIns="0" tIns="0" rIns="0" bIns="0" anchor="t">
            <a:spAutoFit/>
          </a:bodyPr>
          <a:lstStyle/>
          <a:p>
            <a:pPr algn="l">
              <a:lnSpc>
                <a:spcPct val="105000"/>
              </a:lnSpc>
              <a:spcAft>
                <a:spcPts val="900"/>
              </a:spcAft>
            </a:pPr>
            <a:r>
              <a:rPr sz="1200" b="1" i="0">
                <a:solidFill>
                  <a:srgbClr val="F59E0B"/>
                </a:solidFill>
                <a:latin typeface="Segoe UI"/>
              </a:rPr>
              <a:t>• </a:t>
            </a:r>
            <a:r>
              <a:rPr sz="1200" b="0" i="0">
                <a:solidFill>
                  <a:srgbClr val="E2E8F0"/>
                </a:solidFill>
                <a:latin typeface="Segoe UI"/>
              </a:rPr>
              <a:t>Déploiement d'une version cassée</a:t>
            </a:r>
          </a:p>
          <a:p>
            <a:pPr algn="l">
              <a:lnSpc>
                <a:spcPct val="105000"/>
              </a:lnSpc>
              <a:spcAft>
                <a:spcPts val="900"/>
              </a:spcAft>
            </a:pPr>
            <a:r>
              <a:rPr sz="1200" b="1" i="0">
                <a:solidFill>
                  <a:srgbClr val="F59E0B"/>
                </a:solidFill>
                <a:latin typeface="Segoe UI"/>
              </a:rPr>
              <a:t>• </a:t>
            </a:r>
            <a:r>
              <a:rPr sz="1200" b="0" i="0">
                <a:solidFill>
                  <a:srgbClr val="E2E8F0"/>
                </a:solidFill>
                <a:latin typeface="Segoe UI"/>
              </a:rPr>
              <a:t>Panne constatée</a:t>
            </a:r>
          </a:p>
          <a:p>
            <a:pPr algn="l">
              <a:lnSpc>
                <a:spcPct val="105000"/>
              </a:lnSpc>
              <a:spcAft>
                <a:spcPts val="900"/>
              </a:spcAft>
            </a:pPr>
            <a:r>
              <a:rPr sz="1200" b="1" i="0">
                <a:solidFill>
                  <a:srgbClr val="F59E0B"/>
                </a:solidFill>
                <a:latin typeface="Segoe UI"/>
              </a:rPr>
              <a:t>• </a:t>
            </a:r>
            <a:r>
              <a:rPr sz="1200" b="0" i="0">
                <a:solidFill>
                  <a:srgbClr val="E2E8F0"/>
                </a:solidFill>
                <a:latin typeface="Segoe UI"/>
              </a:rPr>
              <a:t>Rollback vers la version stable</a:t>
            </a:r>
          </a:p>
        </p:txBody>
      </p:sp>
      <p:sp>
        <p:nvSpPr>
          <p:cNvPr id="13" name="Rounded Rectangle 12"/>
          <p:cNvSpPr/>
          <p:nvPr/>
        </p:nvSpPr>
        <p:spPr>
          <a:xfrm>
            <a:off x="8147304" y="1645920"/>
            <a:ext cx="3639312" cy="274320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47304" y="1645920"/>
            <a:ext cx="3639312" cy="82296"/>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0184" y="1901952"/>
            <a:ext cx="3310128" cy="822960"/>
          </a:xfrm>
          <a:prstGeom prst="rect">
            <a:avLst/>
          </a:prstGeom>
          <a:noFill/>
        </p:spPr>
        <p:txBody>
          <a:bodyPr wrap="square" lIns="0" tIns="0" rIns="0" bIns="0" anchor="t">
            <a:spAutoFit/>
          </a:bodyPr>
          <a:lstStyle/>
          <a:p>
            <a:pPr algn="l"/>
            <a:r>
              <a:rPr sz="2000" b="0" i="0">
                <a:solidFill>
                  <a:srgbClr val="22C55E"/>
                </a:solidFill>
                <a:latin typeface="Segoe UI"/>
              </a:rPr>
              <a:t>💾  </a:t>
            </a:r>
            <a:r>
              <a:rPr sz="1500" b="1" i="0">
                <a:solidFill>
                  <a:srgbClr val="FFFFFF"/>
                </a:solidFill>
                <a:latin typeface="Segoe UI"/>
              </a:rPr>
              <a:t>Sauvegardes</a:t>
            </a:r>
          </a:p>
        </p:txBody>
      </p:sp>
      <p:sp>
        <p:nvSpPr>
          <p:cNvPr id="16" name="TextBox 15"/>
          <p:cNvSpPr txBox="1"/>
          <p:nvPr/>
        </p:nvSpPr>
        <p:spPr>
          <a:xfrm>
            <a:off x="8330184" y="2788920"/>
            <a:ext cx="3310128" cy="1463040"/>
          </a:xfrm>
          <a:prstGeom prst="rect">
            <a:avLst/>
          </a:prstGeom>
          <a:noFill/>
        </p:spPr>
        <p:txBody>
          <a:bodyPr wrap="square" lIns="0" tIns="0" rIns="0" bIns="0" anchor="t">
            <a:spAutoFit/>
          </a:bodyPr>
          <a:lstStyle/>
          <a:p>
            <a:pPr algn="l">
              <a:lnSpc>
                <a:spcPct val="105000"/>
              </a:lnSpc>
              <a:spcAft>
                <a:spcPts val="900"/>
              </a:spcAft>
            </a:pPr>
            <a:r>
              <a:rPr sz="1200" b="1" i="0">
                <a:solidFill>
                  <a:srgbClr val="22C55E"/>
                </a:solidFill>
                <a:latin typeface="Segoe UI"/>
              </a:rPr>
              <a:t>• </a:t>
            </a:r>
            <a:r>
              <a:rPr sz="1200" b="0" i="0">
                <a:solidFill>
                  <a:srgbClr val="E2E8F0"/>
                </a:solidFill>
                <a:latin typeface="Segoe UI"/>
              </a:rPr>
              <a:t>StorageClass réparée → PVC de backup</a:t>
            </a:r>
          </a:p>
          <a:p>
            <a:pPr algn="l">
              <a:lnSpc>
                <a:spcPct val="105000"/>
              </a:lnSpc>
              <a:spcAft>
                <a:spcPts val="900"/>
              </a:spcAft>
            </a:pPr>
            <a:r>
              <a:rPr sz="1200" b="1" i="0">
                <a:solidFill>
                  <a:srgbClr val="22C55E"/>
                </a:solidFill>
                <a:latin typeface="Segoe UI"/>
              </a:rPr>
              <a:t>• </a:t>
            </a:r>
            <a:r>
              <a:rPr sz="1200" b="0" i="0">
                <a:solidFill>
                  <a:srgbClr val="E2E8F0"/>
                </a:solidFill>
                <a:latin typeface="Segoe UI"/>
              </a:rPr>
              <a:t>Backups MySQL fonctionnels</a:t>
            </a:r>
          </a:p>
          <a:p>
            <a:pPr algn="l">
              <a:lnSpc>
                <a:spcPct val="105000"/>
              </a:lnSpc>
              <a:spcAft>
                <a:spcPts val="900"/>
              </a:spcAft>
            </a:pPr>
            <a:r>
              <a:rPr sz="1200" b="1" i="0">
                <a:solidFill>
                  <a:srgbClr val="22C55E"/>
                </a:solidFill>
                <a:latin typeface="Segoe UI"/>
              </a:rPr>
              <a:t>• </a:t>
            </a:r>
            <a:r>
              <a:rPr sz="1200" b="0" i="0">
                <a:solidFill>
                  <a:srgbClr val="E2E8F0"/>
                </a:solidFill>
                <a:latin typeface="Segoe UI"/>
              </a:rPr>
              <a:t>CronJob quotidien</a:t>
            </a:r>
          </a:p>
        </p:txBody>
      </p:sp>
      <p:sp>
        <p:nvSpPr>
          <p:cNvPr id="17" name="Rounded Rectangle 16"/>
          <p:cNvSpPr/>
          <p:nvPr/>
        </p:nvSpPr>
        <p:spPr>
          <a:xfrm>
            <a:off x="502920" y="4663440"/>
            <a:ext cx="11201400" cy="12801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4663440"/>
            <a:ext cx="64008" cy="12801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4809744"/>
            <a:ext cx="10853928" cy="1005840"/>
          </a:xfrm>
          <a:prstGeom prst="rect">
            <a:avLst/>
          </a:prstGeom>
          <a:noFill/>
        </p:spPr>
        <p:txBody>
          <a:bodyPr wrap="square" lIns="0" tIns="0" rIns="0" bIns="0" anchor="t">
            <a:spAutoFit/>
          </a:bodyPr>
          <a:lstStyle/>
          <a:p>
            <a:pPr algn="l">
              <a:lnSpc>
                <a:spcPct val="115000"/>
              </a:lnSpc>
              <a:spcAft>
                <a:spcPts val="400"/>
              </a:spcAft>
            </a:pPr>
            <a:r>
              <a:rPr sz="1300" b="1" i="0">
                <a:solidFill>
                  <a:srgbClr val="93A3B8"/>
                </a:solidFill>
                <a:latin typeface="Segoe UI"/>
              </a:rPr>
              <a:t>Chaos maîtrisé : </a:t>
            </a:r>
            <a:r>
              <a:rPr sz="1300" b="0" i="0">
                <a:solidFill>
                  <a:srgbClr val="E2E8F0"/>
                </a:solidFill>
                <a:latin typeface="Segoe UI"/>
              </a:rPr>
              <a:t>charge, panne, version cassée — chaque comportement du cluster est prouvé, en direct, dans le monitoring.</a:t>
            </a:r>
          </a:p>
        </p:txBody>
      </p:sp>
      <p:sp>
        <p:nvSpPr>
          <p:cNvPr id="20" name="Rectangle 19"/>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22" name="TextBox 21"/>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789920" cy="365760"/>
          </a:xfrm>
          <a:prstGeom prst="rect">
            <a:avLst/>
          </a:prstGeom>
          <a:noFill/>
        </p:spPr>
        <p:txBody>
          <a:bodyPr wrap="square" lIns="0" tIns="0" rIns="0" bIns="0" anchor="t">
            <a:spAutoFit/>
          </a:bodyPr>
          <a:lstStyle/>
          <a:p>
            <a:pPr algn="l"/>
            <a:r>
              <a:rPr sz="1400" b="1" i="0">
                <a:solidFill>
                  <a:srgbClr val="38BDF8"/>
                </a:solidFill>
                <a:latin typeface="Segoe UI"/>
              </a:rPr>
              <a:t>BILAN</a:t>
            </a:r>
          </a:p>
        </p:txBody>
      </p:sp>
      <p:sp>
        <p:nvSpPr>
          <p:cNvPr id="4" name="TextBox 3"/>
          <p:cNvSpPr txBox="1"/>
          <p:nvPr/>
        </p:nvSpPr>
        <p:spPr>
          <a:xfrm>
            <a:off x="731520" y="960120"/>
            <a:ext cx="10881360" cy="640080"/>
          </a:xfrm>
          <a:prstGeom prst="rect">
            <a:avLst/>
          </a:prstGeom>
          <a:noFill/>
        </p:spPr>
        <p:txBody>
          <a:bodyPr wrap="square" lIns="0" tIns="0" rIns="0" bIns="0" anchor="t">
            <a:spAutoFit/>
          </a:bodyPr>
          <a:lstStyle/>
          <a:p>
            <a:pPr algn="l"/>
            <a:r>
              <a:rPr sz="2700" b="1" i="0">
                <a:solidFill>
                  <a:srgbClr val="FFFFFF"/>
                </a:solidFill>
                <a:latin typeface="Segoe UI"/>
              </a:rPr>
              <a:t>Une infrastructure de production, de bout en bout</a:t>
            </a:r>
          </a:p>
        </p:txBody>
      </p:sp>
      <p:sp>
        <p:nvSpPr>
          <p:cNvPr id="5" name="Rounded Rectangle 4"/>
          <p:cNvSpPr/>
          <p:nvPr/>
        </p:nvSpPr>
        <p:spPr>
          <a:xfrm>
            <a:off x="502920" y="1920240"/>
            <a:ext cx="5532120" cy="10515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920240"/>
            <a:ext cx="64008" cy="105156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920240"/>
            <a:ext cx="5166360" cy="1051560"/>
          </a:xfrm>
          <a:prstGeom prst="rect">
            <a:avLst/>
          </a:prstGeom>
          <a:noFill/>
        </p:spPr>
        <p:txBody>
          <a:bodyPr wrap="square" lIns="0" tIns="0" rIns="0" bIns="0" anchor="ctr">
            <a:spAutoFit/>
          </a:bodyPr>
          <a:lstStyle/>
          <a:p>
            <a:pPr algn="l"/>
            <a:r>
              <a:rPr sz="1400" b="1" i="0">
                <a:solidFill>
                  <a:srgbClr val="326CE5"/>
                </a:solidFill>
                <a:latin typeface="Segoe UI"/>
              </a:rPr>
              <a:t>Socle</a:t>
            </a:r>
          </a:p>
          <a:p>
            <a:pPr algn="l"/>
            <a:r>
              <a:rPr sz="1200" b="0" i="0">
                <a:solidFill>
                  <a:srgbClr val="E2E8F0"/>
                </a:solidFill>
                <a:latin typeface="Segoe UI"/>
              </a:rPr>
              <a:t>Terraform · 4 EC2 · VPC · Security Groups</a:t>
            </a:r>
          </a:p>
        </p:txBody>
      </p:sp>
      <p:sp>
        <p:nvSpPr>
          <p:cNvPr id="8" name="Rounded Rectangle 7"/>
          <p:cNvSpPr/>
          <p:nvPr/>
        </p:nvSpPr>
        <p:spPr>
          <a:xfrm>
            <a:off x="6172200" y="1920240"/>
            <a:ext cx="5532120" cy="10515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920240"/>
            <a:ext cx="64008" cy="10515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920240"/>
            <a:ext cx="5166360" cy="1051560"/>
          </a:xfrm>
          <a:prstGeom prst="rect">
            <a:avLst/>
          </a:prstGeom>
          <a:noFill/>
        </p:spPr>
        <p:txBody>
          <a:bodyPr wrap="square" lIns="0" tIns="0" rIns="0" bIns="0" anchor="ctr">
            <a:spAutoFit/>
          </a:bodyPr>
          <a:lstStyle/>
          <a:p>
            <a:pPr algn="l"/>
            <a:r>
              <a:rPr sz="1400" b="1" i="0">
                <a:solidFill>
                  <a:srgbClr val="38BDF8"/>
                </a:solidFill>
                <a:latin typeface="Segoe UI"/>
              </a:rPr>
              <a:t>Cluster</a:t>
            </a:r>
          </a:p>
          <a:p>
            <a:pPr algn="l"/>
            <a:r>
              <a:rPr sz="1200" b="0" i="0">
                <a:solidFill>
                  <a:srgbClr val="E2E8F0"/>
                </a:solidFill>
                <a:latin typeface="Segoe UI"/>
              </a:rPr>
              <a:t>Kubernetes v1.31 · containerd · Calico</a:t>
            </a:r>
          </a:p>
        </p:txBody>
      </p:sp>
      <p:sp>
        <p:nvSpPr>
          <p:cNvPr id="11" name="Rounded Rectangle 10"/>
          <p:cNvSpPr/>
          <p:nvPr/>
        </p:nvSpPr>
        <p:spPr>
          <a:xfrm>
            <a:off x="502920" y="3136392"/>
            <a:ext cx="5532120" cy="10515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3136392"/>
            <a:ext cx="64008" cy="105156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3136392"/>
            <a:ext cx="5166360" cy="1051560"/>
          </a:xfrm>
          <a:prstGeom prst="rect">
            <a:avLst/>
          </a:prstGeom>
          <a:noFill/>
        </p:spPr>
        <p:txBody>
          <a:bodyPr wrap="square" lIns="0" tIns="0" rIns="0" bIns="0" anchor="ctr">
            <a:spAutoFit/>
          </a:bodyPr>
          <a:lstStyle/>
          <a:p>
            <a:pPr algn="l"/>
            <a:r>
              <a:rPr sz="1400" b="1" i="0">
                <a:solidFill>
                  <a:srgbClr val="22C55E"/>
                </a:solidFill>
                <a:latin typeface="Segoe UI"/>
              </a:rPr>
              <a:t>Livraison</a:t>
            </a:r>
          </a:p>
          <a:p>
            <a:pPr algn="l"/>
            <a:r>
              <a:rPr sz="1200" b="0" i="0">
                <a:solidFill>
                  <a:srgbClr val="E2E8F0"/>
                </a:solidFill>
                <a:latin typeface="Segoe UI"/>
              </a:rPr>
              <a:t>Helm · GitOps ArgoCD · auto-sync app</a:t>
            </a:r>
          </a:p>
        </p:txBody>
      </p:sp>
      <p:sp>
        <p:nvSpPr>
          <p:cNvPr id="14" name="Rounded Rectangle 13"/>
          <p:cNvSpPr/>
          <p:nvPr/>
        </p:nvSpPr>
        <p:spPr>
          <a:xfrm>
            <a:off x="6172200" y="3136392"/>
            <a:ext cx="5532120" cy="10515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3136392"/>
            <a:ext cx="64008"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3368" y="3136392"/>
            <a:ext cx="5166360" cy="1051560"/>
          </a:xfrm>
          <a:prstGeom prst="rect">
            <a:avLst/>
          </a:prstGeom>
          <a:noFill/>
        </p:spPr>
        <p:txBody>
          <a:bodyPr wrap="square" lIns="0" tIns="0" rIns="0" bIns="0" anchor="ctr">
            <a:spAutoFit/>
          </a:bodyPr>
          <a:lstStyle/>
          <a:p>
            <a:pPr algn="l"/>
            <a:r>
              <a:rPr sz="1400" b="1" i="0">
                <a:solidFill>
                  <a:srgbClr val="F59E0B"/>
                </a:solidFill>
                <a:latin typeface="Segoe UI"/>
              </a:rPr>
              <a:t>Observabilité</a:t>
            </a:r>
          </a:p>
          <a:p>
            <a:pPr algn="l"/>
            <a:r>
              <a:rPr sz="1200" b="0" i="0">
                <a:solidFill>
                  <a:srgbClr val="E2E8F0"/>
                </a:solidFill>
                <a:latin typeface="Segoe UI"/>
              </a:rPr>
              <a:t>Prometheus · Grafana · Loki · Dashboard</a:t>
            </a:r>
          </a:p>
        </p:txBody>
      </p:sp>
      <p:sp>
        <p:nvSpPr>
          <p:cNvPr id="17" name="Rounded Rectangle 16"/>
          <p:cNvSpPr/>
          <p:nvPr/>
        </p:nvSpPr>
        <p:spPr>
          <a:xfrm>
            <a:off x="502920" y="4352544"/>
            <a:ext cx="5532120" cy="10515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4352544"/>
            <a:ext cx="64008" cy="10515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 y="4352544"/>
            <a:ext cx="5166360" cy="1051560"/>
          </a:xfrm>
          <a:prstGeom prst="rect">
            <a:avLst/>
          </a:prstGeom>
          <a:noFill/>
        </p:spPr>
        <p:txBody>
          <a:bodyPr wrap="square" lIns="0" tIns="0" rIns="0" bIns="0" anchor="ctr">
            <a:spAutoFit/>
          </a:bodyPr>
          <a:lstStyle/>
          <a:p>
            <a:pPr algn="l"/>
            <a:r>
              <a:rPr sz="1400" b="1" i="0">
                <a:solidFill>
                  <a:srgbClr val="A78BFA"/>
                </a:solidFill>
                <a:latin typeface="Segoe UI"/>
              </a:rPr>
              <a:t>Résilience</a:t>
            </a:r>
          </a:p>
          <a:p>
            <a:pPr algn="l"/>
            <a:r>
              <a:rPr sz="1200" b="0" i="0">
                <a:solidFill>
                  <a:srgbClr val="E2E8F0"/>
                </a:solidFill>
                <a:latin typeface="Segoe UI"/>
              </a:rPr>
              <a:t>HPA · anti-affinité · PDB · backups</a:t>
            </a:r>
          </a:p>
        </p:txBody>
      </p:sp>
      <p:sp>
        <p:nvSpPr>
          <p:cNvPr id="20" name="Rounded Rectangle 19"/>
          <p:cNvSpPr/>
          <p:nvPr/>
        </p:nvSpPr>
        <p:spPr>
          <a:xfrm>
            <a:off x="6172200" y="4352544"/>
            <a:ext cx="5532120" cy="1051560"/>
          </a:xfrm>
          <a:prstGeom prst="roundRect">
            <a:avLst>
              <a:gd name="adj" fmla="val 6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4352544"/>
            <a:ext cx="64008" cy="105156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3368" y="4352544"/>
            <a:ext cx="5166360" cy="1051560"/>
          </a:xfrm>
          <a:prstGeom prst="rect">
            <a:avLst/>
          </a:prstGeom>
          <a:noFill/>
        </p:spPr>
        <p:txBody>
          <a:bodyPr wrap="square" lIns="0" tIns="0" rIns="0" bIns="0" anchor="ctr">
            <a:spAutoFit/>
          </a:bodyPr>
          <a:lstStyle/>
          <a:p>
            <a:pPr algn="l"/>
            <a:r>
              <a:rPr sz="1400" b="1" i="0">
                <a:solidFill>
                  <a:srgbClr val="326CE5"/>
                </a:solidFill>
                <a:latin typeface="Segoe UI"/>
              </a:rPr>
              <a:t>Sécurité</a:t>
            </a:r>
          </a:p>
          <a:p>
            <a:pPr algn="l"/>
            <a:r>
              <a:rPr sz="1200" b="0" i="0">
                <a:solidFill>
                  <a:srgbClr val="E2E8F0"/>
                </a:solidFill>
                <a:latin typeface="Segoe UI"/>
              </a:rPr>
              <a:t>OPA · cert-manager/TLS · RBAC · SSO · NetworkPolicy</a:t>
            </a:r>
          </a:p>
        </p:txBody>
      </p:sp>
      <p:sp>
        <p:nvSpPr>
          <p:cNvPr id="23" name="TextBox 22"/>
          <p:cNvSpPr txBox="1"/>
          <p:nvPr/>
        </p:nvSpPr>
        <p:spPr>
          <a:xfrm>
            <a:off x="502920" y="5943600"/>
            <a:ext cx="11155680" cy="548640"/>
          </a:xfrm>
          <a:prstGeom prst="rect">
            <a:avLst/>
          </a:prstGeom>
          <a:noFill/>
        </p:spPr>
        <p:txBody>
          <a:bodyPr wrap="square" lIns="0" tIns="0" rIns="0" bIns="0" anchor="ctr">
            <a:spAutoFit/>
          </a:bodyPr>
          <a:lstStyle/>
          <a:p>
            <a:pPr algn="l"/>
            <a:r>
              <a:rPr sz="1400" b="1" i="0">
                <a:solidFill>
                  <a:srgbClr val="93A3B8"/>
                </a:solidFill>
                <a:latin typeface="Segoe UI"/>
              </a:rPr>
              <a:t>Laravel → Kubernetes : </a:t>
            </a:r>
            <a:r>
              <a:rPr sz="1400" b="0" i="0">
                <a:solidFill>
                  <a:srgbClr val="E2E8F0"/>
                </a:solidFill>
                <a:latin typeface="Segoe UI"/>
              </a:rPr>
              <a:t>provisionné, livré, observé, sécurisé et éprouvé — traité comme une vraie infra de prod.</a:t>
            </a:r>
          </a:p>
        </p:txBody>
      </p:sp>
      <p:sp>
        <p:nvSpPr>
          <p:cNvPr id="24" name="Rectangle 23"/>
          <p:cNvSpPr/>
          <p:nvPr/>
        </p:nvSpPr>
        <p:spPr>
          <a:xfrm>
            <a:off x="0" y="6832600"/>
            <a:ext cx="12191695"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400800"/>
            <a:ext cx="8229600" cy="320040"/>
          </a:xfrm>
          <a:prstGeom prst="rect">
            <a:avLst/>
          </a:prstGeom>
          <a:noFill/>
        </p:spPr>
        <p:txBody>
          <a:bodyPr wrap="square" lIns="0" tIns="0" rIns="0" bIns="0" anchor="ctr">
            <a:spAutoFit/>
          </a:bodyPr>
          <a:lstStyle/>
          <a:p>
            <a:pPr algn="l"/>
            <a:r>
              <a:rPr sz="1000" b="1" i="0">
                <a:solidFill>
                  <a:srgbClr val="93A3B8"/>
                </a:solidFill>
                <a:latin typeface="Segoe UI"/>
              </a:rPr>
              <a:t>KubeQuest</a:t>
            </a:r>
            <a:r>
              <a:rPr sz="1000" b="0" i="0">
                <a:solidFill>
                  <a:srgbClr val="93A3B8"/>
                </a:solidFill>
                <a:latin typeface="Segoe UI"/>
              </a:rPr>
              <a:t>  ·  Groupe 50  ·  Epitech MSc Pro Promo 2026</a:t>
            </a:r>
          </a:p>
        </p:txBody>
      </p:sp>
      <p:sp>
        <p:nvSpPr>
          <p:cNvPr id="26" name="TextBox 25"/>
          <p:cNvSpPr txBox="1"/>
          <p:nvPr/>
        </p:nvSpPr>
        <p:spPr>
          <a:xfrm>
            <a:off x="10911535" y="6400800"/>
            <a:ext cx="777240" cy="320040"/>
          </a:xfrm>
          <a:prstGeom prst="rect">
            <a:avLst/>
          </a:prstGeom>
          <a:noFill/>
        </p:spPr>
        <p:txBody>
          <a:bodyPr wrap="square" lIns="0" tIns="0" rIns="0" bIns="0" anchor="ctr">
            <a:spAutoFit/>
          </a:bodyPr>
          <a:lstStyle/>
          <a:p>
            <a:pPr algn="r"/>
            <a:r>
              <a:rPr sz="1000" b="1" i="0">
                <a:solidFill>
                  <a:srgbClr val="93A3B8"/>
                </a:solidFill>
                <a:latin typeface="Segoe U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1921</TotalTime>
  <Words>3455</Words>
  <Application>Microsoft Office PowerPoint</Application>
  <PresentationFormat>Grand écran</PresentationFormat>
  <Paragraphs>320</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Consolas</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Nathan Han</cp:lastModifiedBy>
  <cp:revision>3</cp:revision>
  <dcterms:created xsi:type="dcterms:W3CDTF">2013-01-27T09:14:16Z</dcterms:created>
  <dcterms:modified xsi:type="dcterms:W3CDTF">2026-07-11T19:57:20Z</dcterms:modified>
  <cp:category/>
</cp:coreProperties>
</file>