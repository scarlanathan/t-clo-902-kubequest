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1857" autoAdjust="0"/>
  </p:normalViewPr>
  <p:slideViewPr>
    <p:cSldViewPr snapToGrid="0" snapToObjects="1">
      <p:cViewPr varScale="1">
        <p:scale>
          <a:sx n="74" d="100"/>
          <a:sy n="74" d="100"/>
        </p:scale>
        <p:origin x="19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4548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KEYNOTE FINALE — ouverture (45 s).</a:t>
            </a:r>
          </a:p>
          <a:p>
            <a:r>
              <a:rPr dirty="0"/>
              <a:t>« Bonjour, Groupe 50. </a:t>
            </a:r>
            <a:r>
              <a:rPr dirty="0" err="1"/>
              <a:t>Voici</a:t>
            </a:r>
            <a:r>
              <a:rPr dirty="0"/>
              <a:t> </a:t>
            </a:r>
            <a:r>
              <a:rPr dirty="0" err="1"/>
              <a:t>KubeQuest</a:t>
            </a:r>
            <a:r>
              <a:rPr dirty="0"/>
              <a:t> : nous </a:t>
            </a:r>
            <a:r>
              <a:rPr dirty="0" err="1"/>
              <a:t>avons</a:t>
            </a:r>
            <a:r>
              <a:rPr dirty="0"/>
              <a:t> </a:t>
            </a:r>
            <a:r>
              <a:rPr dirty="0" err="1"/>
              <a:t>migré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application Laravel de docker-compose vers un cluster Kubernetes de production sur AWS. »</a:t>
            </a:r>
          </a:p>
          <a:p>
            <a:r>
              <a:rPr dirty="0"/>
              <a:t>Poser </a:t>
            </a:r>
            <a:r>
              <a:rPr dirty="0" err="1"/>
              <a:t>l'enjeu</a:t>
            </a:r>
            <a:r>
              <a:rPr dirty="0"/>
              <a:t> du jour : «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notre</a:t>
            </a:r>
            <a:r>
              <a:rPr dirty="0"/>
              <a:t> keynote finale. On ne </a:t>
            </a:r>
            <a:r>
              <a:rPr dirty="0" err="1"/>
              <a:t>va</a:t>
            </a:r>
            <a:r>
              <a:rPr dirty="0"/>
              <a:t> pas </a:t>
            </a:r>
            <a:r>
              <a:rPr dirty="0" err="1"/>
              <a:t>seulement</a:t>
            </a:r>
            <a:r>
              <a:rPr dirty="0"/>
              <a:t> </a:t>
            </a:r>
            <a:r>
              <a:rPr dirty="0" err="1"/>
              <a:t>présenter</a:t>
            </a:r>
            <a:r>
              <a:rPr dirty="0"/>
              <a:t> des slides — on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mettre</a:t>
            </a:r>
            <a:r>
              <a:rPr dirty="0"/>
              <a:t> </a:t>
            </a:r>
            <a:r>
              <a:rPr dirty="0" err="1"/>
              <a:t>l'infrastructure</a:t>
            </a:r>
            <a:r>
              <a:rPr dirty="0"/>
              <a:t> à </a:t>
            </a:r>
            <a:r>
              <a:rPr dirty="0" err="1"/>
              <a:t>l'épreuve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direct </a:t>
            </a:r>
            <a:r>
              <a:rPr dirty="0" err="1"/>
              <a:t>devant</a:t>
            </a:r>
            <a:r>
              <a:rPr dirty="0"/>
              <a:t> vous, et </a:t>
            </a:r>
            <a:r>
              <a:rPr dirty="0" err="1"/>
              <a:t>prouver</a:t>
            </a:r>
            <a:r>
              <a:rPr dirty="0"/>
              <a:t> </a:t>
            </a:r>
            <a:r>
              <a:rPr dirty="0" err="1"/>
              <a:t>qu'elle</a:t>
            </a:r>
            <a:r>
              <a:rPr dirty="0"/>
              <a:t> </a:t>
            </a:r>
            <a:r>
              <a:rPr dirty="0" err="1"/>
              <a:t>tient</a:t>
            </a:r>
            <a:r>
              <a:rPr dirty="0"/>
              <a:t>. »</a:t>
            </a:r>
          </a:p>
          <a:p>
            <a:r>
              <a:rPr dirty="0" err="1"/>
              <a:t>Annoncer</a:t>
            </a:r>
            <a:r>
              <a:rPr dirty="0"/>
              <a:t> le plan : (1) </a:t>
            </a:r>
            <a:r>
              <a:rPr dirty="0" err="1"/>
              <a:t>l'architecture</a:t>
            </a:r>
            <a:r>
              <a:rPr dirty="0"/>
              <a:t>, (2)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qu'on</a:t>
            </a:r>
            <a:r>
              <a:rPr dirty="0"/>
              <a:t> a </a:t>
            </a:r>
            <a:r>
              <a:rPr dirty="0" err="1"/>
              <a:t>construit</a:t>
            </a:r>
            <a:r>
              <a:rPr dirty="0"/>
              <a:t> — monitoring, sécurité, </a:t>
            </a:r>
            <a:r>
              <a:rPr dirty="0" err="1"/>
              <a:t>GitOps</a:t>
            </a:r>
            <a:r>
              <a:rPr dirty="0"/>
              <a:t>, (3) la </a:t>
            </a:r>
            <a:r>
              <a:rPr dirty="0" err="1"/>
              <a:t>démonstration</a:t>
            </a:r>
            <a:r>
              <a:rPr dirty="0"/>
              <a:t> live : charge, panne d'un </a:t>
            </a:r>
            <a:r>
              <a:rPr dirty="0" err="1"/>
              <a:t>nœud</a:t>
            </a:r>
            <a:r>
              <a:rPr dirty="0"/>
              <a:t>, rollback, </a:t>
            </a:r>
            <a:r>
              <a:rPr dirty="0" err="1"/>
              <a:t>observés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temps </a:t>
            </a:r>
            <a:r>
              <a:rPr dirty="0" err="1"/>
              <a:t>réel</a:t>
            </a:r>
            <a:r>
              <a:rPr dirty="0"/>
              <a:t> sur le monitoring.</a:t>
            </a:r>
          </a:p>
          <a:p>
            <a:r>
              <a:rPr dirty="0"/>
              <a:t>Les 4 tags = le message : cluster 4 </a:t>
            </a:r>
            <a:r>
              <a:rPr dirty="0" err="1"/>
              <a:t>nœuds</a:t>
            </a:r>
            <a:r>
              <a:rPr dirty="0"/>
              <a:t>, monitoring live, </a:t>
            </a:r>
            <a:r>
              <a:rPr dirty="0" err="1"/>
              <a:t>GitOps</a:t>
            </a:r>
            <a:r>
              <a:rPr dirty="0"/>
              <a:t>/</a:t>
            </a:r>
            <a:r>
              <a:rPr dirty="0" err="1"/>
              <a:t>ArgoCD</a:t>
            </a:r>
            <a:r>
              <a:rPr dirty="0"/>
              <a:t>, faille PHP </a:t>
            </a:r>
            <a:r>
              <a:rPr dirty="0" err="1"/>
              <a:t>durcie</a:t>
            </a:r>
            <a:r>
              <a:rPr dirty="0"/>
              <a:t>.</a:t>
            </a:r>
          </a:p>
          <a:p>
            <a:r>
              <a:rPr dirty="0"/>
              <a:t>Se </a:t>
            </a:r>
            <a:r>
              <a:rPr dirty="0" err="1"/>
              <a:t>présenter</a:t>
            </a:r>
            <a:r>
              <a:rPr dirty="0"/>
              <a:t> : chacun son nom + son </a:t>
            </a:r>
            <a:r>
              <a:rPr dirty="0" err="1"/>
              <a:t>domaine</a:t>
            </a:r>
            <a:r>
              <a:rPr dirty="0"/>
              <a:t> (infra, app, monitoring, sécurité) — le jury </a:t>
            </a:r>
            <a:r>
              <a:rPr dirty="0" err="1"/>
              <a:t>saura</a:t>
            </a:r>
            <a:r>
              <a:rPr dirty="0"/>
              <a:t> à qui poser quelle question.</a:t>
            </a:r>
          </a:p>
          <a:p>
            <a:r>
              <a:rPr dirty="0" err="1"/>
              <a:t>Préparer</a:t>
            </a:r>
            <a:r>
              <a:rPr dirty="0"/>
              <a:t> AVANT de commencer : Grafana </a:t>
            </a:r>
            <a:r>
              <a:rPr dirty="0" err="1"/>
              <a:t>ouvert</a:t>
            </a:r>
            <a:r>
              <a:rPr dirty="0"/>
              <a:t> sur un 2e </a:t>
            </a:r>
            <a:r>
              <a:rPr dirty="0" err="1"/>
              <a:t>écran</a:t>
            </a:r>
            <a:r>
              <a:rPr dirty="0"/>
              <a:t>, </a:t>
            </a:r>
            <a:r>
              <a:rPr dirty="0" err="1"/>
              <a:t>terminaux</a:t>
            </a:r>
            <a:r>
              <a:rPr dirty="0"/>
              <a:t> SSH </a:t>
            </a:r>
            <a:r>
              <a:rPr dirty="0" err="1"/>
              <a:t>prêts</a:t>
            </a:r>
            <a:r>
              <a:rPr dirty="0"/>
              <a:t> pour la </a:t>
            </a:r>
            <a:r>
              <a:rPr dirty="0" err="1"/>
              <a:t>démo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Bilan express du chemin </a:t>
            </a:r>
            <a:r>
              <a:rPr dirty="0" err="1"/>
              <a:t>parcouru</a:t>
            </a:r>
            <a:r>
              <a:rPr dirty="0"/>
              <a:t> — ne pas </a:t>
            </a:r>
            <a:r>
              <a:rPr dirty="0" err="1"/>
              <a:t>s'attarder</a:t>
            </a:r>
            <a:r>
              <a:rPr dirty="0"/>
              <a:t>, le </a:t>
            </a:r>
            <a:r>
              <a:rPr dirty="0" err="1"/>
              <a:t>vrai</a:t>
            </a:r>
            <a:r>
              <a:rPr dirty="0"/>
              <a:t> plat </a:t>
            </a:r>
            <a:r>
              <a:rPr dirty="0" err="1"/>
              <a:t>c'est</a:t>
            </a:r>
            <a:r>
              <a:rPr dirty="0"/>
              <a:t> la </a:t>
            </a:r>
            <a:r>
              <a:rPr dirty="0" err="1"/>
              <a:t>démo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Départ</a:t>
            </a:r>
            <a:r>
              <a:rPr dirty="0"/>
              <a:t> : app </a:t>
            </a:r>
            <a:r>
              <a:rPr dirty="0" err="1"/>
              <a:t>en</a:t>
            </a:r>
            <a:r>
              <a:rPr dirty="0"/>
              <a:t> docker-compose, mono-machine, 2 </a:t>
            </a:r>
            <a:r>
              <a:rPr dirty="0" err="1"/>
              <a:t>nœuds</a:t>
            </a:r>
            <a:r>
              <a:rPr dirty="0"/>
              <a:t>. </a:t>
            </a:r>
            <a:r>
              <a:rPr dirty="0" err="1"/>
              <a:t>Aujourd'hui</a:t>
            </a:r>
            <a:r>
              <a:rPr dirty="0"/>
              <a:t> : cluster 4 VM EC2, </a:t>
            </a:r>
            <a:r>
              <a:rPr dirty="0" err="1"/>
              <a:t>chacune</a:t>
            </a:r>
            <a:r>
              <a:rPr dirty="0"/>
              <a:t> avec un </a:t>
            </a:r>
            <a:r>
              <a:rPr dirty="0" err="1"/>
              <a:t>rôle</a:t>
            </a:r>
            <a:r>
              <a:rPr dirty="0"/>
              <a:t> </a:t>
            </a:r>
            <a:r>
              <a:rPr dirty="0" err="1"/>
              <a:t>dédié</a:t>
            </a:r>
            <a:r>
              <a:rPr dirty="0"/>
              <a:t> (control-plane, worker </a:t>
            </a:r>
            <a:r>
              <a:rPr dirty="0" err="1"/>
              <a:t>applicatif</a:t>
            </a:r>
            <a:r>
              <a:rPr dirty="0"/>
              <a:t>, ingress, monitoring).</a:t>
            </a:r>
          </a:p>
          <a:p>
            <a:r>
              <a:rPr dirty="0"/>
              <a:t>- Toute </a:t>
            </a:r>
            <a:r>
              <a:rPr dirty="0" err="1"/>
              <a:t>l'équipe</a:t>
            </a:r>
            <a:r>
              <a:rPr dirty="0"/>
              <a:t> a </a:t>
            </a:r>
            <a:r>
              <a:rPr dirty="0" err="1"/>
              <a:t>manipulé</a:t>
            </a:r>
            <a:r>
              <a:rPr dirty="0"/>
              <a:t> le cluster (SSH + </a:t>
            </a:r>
            <a:r>
              <a:rPr dirty="0" err="1"/>
              <a:t>kubectl</a:t>
            </a:r>
            <a:r>
              <a:rPr dirty="0"/>
              <a:t> sur les 4 VM) — </a:t>
            </a:r>
            <a:r>
              <a:rPr dirty="0" err="1"/>
              <a:t>objectif</a:t>
            </a:r>
            <a:r>
              <a:rPr dirty="0"/>
              <a:t> </a:t>
            </a:r>
            <a:r>
              <a:rPr dirty="0" err="1"/>
              <a:t>atteint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L'app</a:t>
            </a:r>
            <a:r>
              <a:rPr dirty="0"/>
              <a:t> Laravel </a:t>
            </a:r>
            <a:r>
              <a:rPr dirty="0" err="1"/>
              <a:t>tourne</a:t>
            </a:r>
            <a:r>
              <a:rPr dirty="0"/>
              <a:t> </a:t>
            </a:r>
            <a:r>
              <a:rPr dirty="0" err="1"/>
              <a:t>réellement</a:t>
            </a:r>
            <a:r>
              <a:rPr dirty="0"/>
              <a:t> : HTTP 200, base de données </a:t>
            </a:r>
            <a:r>
              <a:rPr dirty="0" err="1"/>
              <a:t>connectée</a:t>
            </a:r>
            <a:r>
              <a:rPr dirty="0"/>
              <a:t>. Ce </a:t>
            </a:r>
            <a:r>
              <a:rPr dirty="0" err="1"/>
              <a:t>n'est</a:t>
            </a:r>
            <a:r>
              <a:rPr dirty="0"/>
              <a:t> pas </a:t>
            </a:r>
            <a:r>
              <a:rPr dirty="0" err="1"/>
              <a:t>une</a:t>
            </a:r>
            <a:r>
              <a:rPr dirty="0"/>
              <a:t> maquette.</a:t>
            </a:r>
          </a:p>
          <a:p>
            <a:r>
              <a:rPr dirty="0"/>
              <a:t>À dire : « Le socle est </a:t>
            </a:r>
            <a:r>
              <a:rPr dirty="0" err="1"/>
              <a:t>en</a:t>
            </a:r>
            <a:r>
              <a:rPr dirty="0"/>
              <a:t> place — infra, app, </a:t>
            </a:r>
            <a:r>
              <a:rPr dirty="0" err="1"/>
              <a:t>accès</a:t>
            </a:r>
            <a:r>
              <a:rPr dirty="0"/>
              <a:t> — et on est </a:t>
            </a:r>
            <a:r>
              <a:rPr dirty="0" err="1"/>
              <a:t>allés</a:t>
            </a:r>
            <a:r>
              <a:rPr dirty="0"/>
              <a:t> </a:t>
            </a:r>
            <a:r>
              <a:rPr dirty="0" err="1"/>
              <a:t>jusqu'aux</a:t>
            </a:r>
            <a:r>
              <a:rPr dirty="0"/>
              <a:t> </a:t>
            </a:r>
            <a:r>
              <a:rPr dirty="0" err="1"/>
              <a:t>briques</a:t>
            </a:r>
            <a:r>
              <a:rPr dirty="0"/>
              <a:t> de production : monitoring, </a:t>
            </a:r>
            <a:r>
              <a:rPr dirty="0" err="1"/>
              <a:t>GitOps</a:t>
            </a:r>
            <a:r>
              <a:rPr dirty="0"/>
              <a:t>, sécurité.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qu'on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vous </a:t>
            </a:r>
            <a:r>
              <a:rPr dirty="0" err="1"/>
              <a:t>montrer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action. »</a:t>
            </a:r>
          </a:p>
          <a:p>
            <a:r>
              <a:rPr dirty="0" err="1"/>
              <a:t>Enchaîner</a:t>
            </a:r>
            <a:r>
              <a:rPr dirty="0"/>
              <a:t> </a:t>
            </a:r>
            <a:r>
              <a:rPr dirty="0" err="1"/>
              <a:t>rapidement</a:t>
            </a:r>
            <a:r>
              <a:rPr dirty="0"/>
              <a:t> vers </a:t>
            </a:r>
            <a:r>
              <a:rPr dirty="0" err="1"/>
              <a:t>l'architecture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Les objectifs fixés en cours de projet sont tous atteints — le dire vite, comme un rappel, pas comme un point d'étape.</a:t>
            </a:r>
          </a:p>
          <a:p>
            <a:r>
              <a:t>1) Chaque membre ≥ 1 commande kubectl + les 4 VM manipulées — FAIT. Toute l'équipe a pratiqué (get, describe, logs, exec) et sait opérer le cluster en SSH.</a:t>
            </a:r>
          </a:p>
          <a:p>
            <a:r>
              <a:t>2) Stack de monitoring — FAIT et opérationnelle : Prometheus + Grafana + Loki, métriques via ServiceMonitor, logs centralisés, dashboards prêts. C'est l'outil qu'on va regarder pendant la démo.</a:t>
            </a:r>
          </a:p>
          <a:p>
            <a:r>
              <a:t>3) Schéma d'architecture maîtrisé par chacun — FAIT (slide suivante).</a:t>
            </a:r>
          </a:p>
          <a:p>
            <a:r>
              <a:t>Message : « Ces jalons sont derrière nous ; aujourd'hui on démontre le résultat. »</a:t>
            </a:r>
          </a:p>
          <a:p>
            <a:r>
              <a:t>Transition : « Voici l'architecture.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L'architecture</a:t>
            </a:r>
            <a:r>
              <a:rPr dirty="0"/>
              <a:t> de production </a:t>
            </a:r>
            <a:r>
              <a:rPr dirty="0" err="1"/>
              <a:t>qu'on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stresser</a:t>
            </a:r>
            <a:r>
              <a:rPr dirty="0"/>
              <a:t> dans </a:t>
            </a:r>
            <a:r>
              <a:rPr dirty="0" err="1"/>
              <a:t>quelques</a:t>
            </a:r>
            <a:r>
              <a:rPr dirty="0"/>
              <a:t> minutes. Chacun doit savoir la </a:t>
            </a:r>
            <a:r>
              <a:rPr dirty="0" err="1"/>
              <a:t>raconter</a:t>
            </a:r>
            <a:r>
              <a:rPr dirty="0"/>
              <a:t>. </a:t>
            </a:r>
            <a:r>
              <a:rPr dirty="0" err="1"/>
              <a:t>Suivre</a:t>
            </a:r>
            <a:r>
              <a:rPr dirty="0"/>
              <a:t> la flèche, de gauche à droite.</a:t>
            </a:r>
          </a:p>
          <a:p>
            <a:r>
              <a:rPr dirty="0"/>
              <a:t>- </a:t>
            </a:r>
            <a:r>
              <a:rPr dirty="0" err="1"/>
              <a:t>Utilisateur</a:t>
            </a:r>
            <a:r>
              <a:rPr dirty="0"/>
              <a:t> : tape </a:t>
            </a:r>
            <a:r>
              <a:rPr dirty="0" err="1"/>
              <a:t>l'URL</a:t>
            </a:r>
            <a:r>
              <a:rPr dirty="0"/>
              <a:t> de </a:t>
            </a:r>
            <a:r>
              <a:rPr dirty="0" err="1"/>
              <a:t>l'app</a:t>
            </a:r>
            <a:r>
              <a:rPr dirty="0"/>
              <a:t>.</a:t>
            </a:r>
          </a:p>
          <a:p>
            <a:r>
              <a:rPr dirty="0"/>
              <a:t>- node-3 (Ingress) : </a:t>
            </a:r>
            <a:r>
              <a:rPr dirty="0" err="1"/>
              <a:t>porte</a:t>
            </a:r>
            <a:r>
              <a:rPr dirty="0"/>
              <a:t> </a:t>
            </a:r>
            <a:r>
              <a:rPr dirty="0" err="1"/>
              <a:t>d'entrée</a:t>
            </a:r>
            <a:r>
              <a:rPr dirty="0"/>
              <a:t> HTTP/HTTPS. nginx-ingress route </a:t>
            </a:r>
            <a:r>
              <a:rPr dirty="0" err="1"/>
              <a:t>selon</a:t>
            </a:r>
            <a:r>
              <a:rPr dirty="0"/>
              <a:t> le </a:t>
            </a:r>
            <a:r>
              <a:rPr dirty="0" err="1"/>
              <a:t>domaine</a:t>
            </a:r>
            <a:r>
              <a:rPr dirty="0"/>
              <a:t>, TLS </a:t>
            </a:r>
            <a:r>
              <a:rPr dirty="0" err="1"/>
              <a:t>géré</a:t>
            </a:r>
            <a:r>
              <a:rPr dirty="0"/>
              <a:t> par cert-manager. Comme on est sur EC2 auto-</a:t>
            </a:r>
            <a:r>
              <a:rPr dirty="0" err="1"/>
              <a:t>gérées</a:t>
            </a:r>
            <a:r>
              <a:rPr dirty="0"/>
              <a:t> sans </a:t>
            </a:r>
            <a:r>
              <a:rPr dirty="0" err="1"/>
              <a:t>LoadBalancer</a:t>
            </a:r>
            <a:r>
              <a:rPr dirty="0"/>
              <a:t> AWS, on expose via </a:t>
            </a:r>
            <a:r>
              <a:rPr dirty="0" err="1"/>
              <a:t>NodePort</a:t>
            </a:r>
            <a:r>
              <a:rPr dirty="0"/>
              <a:t> (32222).</a:t>
            </a:r>
          </a:p>
          <a:p>
            <a:r>
              <a:rPr dirty="0"/>
              <a:t>- node-1 (Control plane + worker) : le </a:t>
            </a:r>
            <a:r>
              <a:rPr dirty="0" err="1"/>
              <a:t>cerveau</a:t>
            </a:r>
            <a:r>
              <a:rPr dirty="0"/>
              <a:t> — API server, </a:t>
            </a:r>
            <a:r>
              <a:rPr dirty="0" err="1"/>
              <a:t>etcd</a:t>
            </a:r>
            <a:r>
              <a:rPr dirty="0"/>
              <a:t> (base d'état du cluster), scheduler. Réseau entre pods </a:t>
            </a:r>
            <a:r>
              <a:rPr dirty="0" err="1"/>
              <a:t>assuré</a:t>
            </a:r>
            <a:r>
              <a:rPr dirty="0"/>
              <a:t> par Calico (CNI).</a:t>
            </a:r>
          </a:p>
          <a:p>
            <a:r>
              <a:rPr dirty="0"/>
              <a:t>- node-2 (Worker) : le métier — 3 replicas de </a:t>
            </a:r>
            <a:r>
              <a:rPr dirty="0" err="1"/>
              <a:t>l'app</a:t>
            </a:r>
            <a:r>
              <a:rPr dirty="0"/>
              <a:t> Laravel + la base de données. </a:t>
            </a:r>
            <a:r>
              <a:rPr dirty="0" err="1"/>
              <a:t>L'autoscaler</a:t>
            </a:r>
            <a:r>
              <a:rPr dirty="0"/>
              <a:t> HPA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monter</a:t>
            </a:r>
            <a:r>
              <a:rPr dirty="0"/>
              <a:t> de 3 à 10 pods </a:t>
            </a:r>
            <a:r>
              <a:rPr dirty="0" err="1"/>
              <a:t>selon</a:t>
            </a:r>
            <a:r>
              <a:rPr dirty="0"/>
              <a:t> la charge CPU.</a:t>
            </a:r>
          </a:p>
          <a:p>
            <a:r>
              <a:rPr dirty="0"/>
              <a:t>- node-4 (Monitoring) : Prometheus scrape les </a:t>
            </a:r>
            <a:r>
              <a:rPr dirty="0" err="1"/>
              <a:t>métriques</a:t>
            </a:r>
            <a:r>
              <a:rPr dirty="0"/>
              <a:t>, Loki </a:t>
            </a:r>
            <a:r>
              <a:rPr dirty="0" err="1"/>
              <a:t>collecte</a:t>
            </a:r>
            <a:r>
              <a:rPr dirty="0"/>
              <a:t> les logs (via </a:t>
            </a:r>
            <a:r>
              <a:rPr dirty="0" err="1"/>
              <a:t>Promtail</a:t>
            </a:r>
            <a:r>
              <a:rPr dirty="0"/>
              <a:t>), Grafana affiche tout. Il observe les 3 </a:t>
            </a:r>
            <a:r>
              <a:rPr dirty="0" err="1"/>
              <a:t>autres</a:t>
            </a:r>
            <a:r>
              <a:rPr dirty="0"/>
              <a:t> </a:t>
            </a:r>
            <a:r>
              <a:rPr dirty="0" err="1"/>
              <a:t>nœuds</a:t>
            </a:r>
            <a:r>
              <a:rPr dirty="0"/>
              <a:t> — </a:t>
            </a:r>
            <a:r>
              <a:rPr dirty="0" err="1"/>
              <a:t>d'où</a:t>
            </a:r>
            <a:r>
              <a:rPr dirty="0"/>
              <a:t> la flèche </a:t>
            </a:r>
            <a:r>
              <a:rPr dirty="0" err="1"/>
              <a:t>ambre</a:t>
            </a:r>
            <a:r>
              <a:rPr dirty="0"/>
              <a:t>.</a:t>
            </a:r>
          </a:p>
          <a:p>
            <a:r>
              <a:rPr dirty="0" err="1"/>
              <a:t>Trajet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requête</a:t>
            </a:r>
            <a:r>
              <a:rPr dirty="0"/>
              <a:t> (à </a:t>
            </a:r>
            <a:r>
              <a:rPr dirty="0" err="1"/>
              <a:t>réciter</a:t>
            </a:r>
            <a:r>
              <a:rPr dirty="0"/>
              <a:t>) : </a:t>
            </a:r>
            <a:r>
              <a:rPr dirty="0" err="1"/>
              <a:t>Utilisateur</a:t>
            </a:r>
            <a:r>
              <a:rPr dirty="0"/>
              <a:t> → Ingress (node-3) → Service → un pod Laravel (node-2) → base de données → </a:t>
            </a:r>
            <a:r>
              <a:rPr dirty="0" err="1"/>
              <a:t>réponse</a:t>
            </a:r>
            <a:r>
              <a:rPr dirty="0"/>
              <a:t>. En </a:t>
            </a:r>
            <a:r>
              <a:rPr dirty="0" err="1"/>
              <a:t>parallèle</a:t>
            </a:r>
            <a:r>
              <a:rPr dirty="0"/>
              <a:t>, node-4 </a:t>
            </a:r>
            <a:r>
              <a:rPr dirty="0" err="1"/>
              <a:t>mesure</a:t>
            </a:r>
            <a:r>
              <a:rPr dirty="0"/>
              <a:t> et </a:t>
            </a:r>
            <a:r>
              <a:rPr dirty="0" err="1"/>
              <a:t>journalise</a:t>
            </a:r>
            <a:r>
              <a:rPr dirty="0"/>
              <a:t>.</a:t>
            </a:r>
          </a:p>
          <a:p>
            <a:r>
              <a:rPr dirty="0"/>
              <a:t>Si on </a:t>
            </a:r>
            <a:r>
              <a:rPr dirty="0" err="1"/>
              <a:t>demande</a:t>
            </a:r>
            <a:r>
              <a:rPr dirty="0"/>
              <a:t> « </a:t>
            </a:r>
            <a:r>
              <a:rPr dirty="0" err="1"/>
              <a:t>pourquoi</a:t>
            </a:r>
            <a:r>
              <a:rPr dirty="0"/>
              <a:t> </a:t>
            </a:r>
            <a:r>
              <a:rPr dirty="0" err="1"/>
              <a:t>séparer</a:t>
            </a:r>
            <a:r>
              <a:rPr dirty="0"/>
              <a:t> les </a:t>
            </a:r>
            <a:r>
              <a:rPr dirty="0" err="1"/>
              <a:t>rôles</a:t>
            </a:r>
            <a:r>
              <a:rPr dirty="0"/>
              <a:t> ? » : isolation des </a:t>
            </a:r>
            <a:r>
              <a:rPr dirty="0" err="1"/>
              <a:t>responsabilités</a:t>
            </a:r>
            <a:r>
              <a:rPr dirty="0"/>
              <a:t>, le monitoring ne </a:t>
            </a:r>
            <a:r>
              <a:rPr dirty="0" err="1"/>
              <a:t>pollue</a:t>
            </a:r>
            <a:r>
              <a:rPr dirty="0"/>
              <a:t> pas la charge applicative, sécurité (Security Groups </a:t>
            </a:r>
            <a:r>
              <a:rPr dirty="0" err="1"/>
              <a:t>distincts</a:t>
            </a:r>
            <a:r>
              <a:rPr dirty="0"/>
              <a:t> par type de </a:t>
            </a:r>
            <a:r>
              <a:rPr dirty="0" err="1"/>
              <a:t>nœud</a:t>
            </a:r>
            <a:r>
              <a:rPr dirty="0"/>
              <a:t>).</a:t>
            </a:r>
          </a:p>
          <a:p>
            <a:r>
              <a:rPr dirty="0" err="1"/>
              <a:t>Annoncer</a:t>
            </a:r>
            <a:r>
              <a:rPr dirty="0"/>
              <a:t> la </a:t>
            </a:r>
            <a:r>
              <a:rPr dirty="0" err="1"/>
              <a:t>démo</a:t>
            </a:r>
            <a:r>
              <a:rPr dirty="0"/>
              <a:t> : « </a:t>
            </a:r>
            <a:r>
              <a:rPr dirty="0" err="1"/>
              <a:t>Retenez</a:t>
            </a:r>
            <a:r>
              <a:rPr dirty="0"/>
              <a:t> node-2 (les pods </a:t>
            </a:r>
            <a:r>
              <a:rPr dirty="0" err="1"/>
              <a:t>applicatifs</a:t>
            </a:r>
            <a:r>
              <a:rPr dirty="0"/>
              <a:t>) et node-4 (le monitoring) —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tout </a:t>
            </a:r>
            <a:r>
              <a:rPr dirty="0" err="1"/>
              <a:t>va</a:t>
            </a:r>
            <a:r>
              <a:rPr dirty="0"/>
              <a:t> se </a:t>
            </a:r>
            <a:r>
              <a:rPr dirty="0" err="1"/>
              <a:t>jouer</a:t>
            </a:r>
            <a:r>
              <a:rPr dirty="0"/>
              <a:t> </a:t>
            </a:r>
            <a:r>
              <a:rPr dirty="0" err="1"/>
              <a:t>quand</a:t>
            </a:r>
            <a:r>
              <a:rPr dirty="0"/>
              <a:t> on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stresser</a:t>
            </a:r>
            <a:r>
              <a:rPr dirty="0"/>
              <a:t> le cluster.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stack d'observabilité — L'OUTIL de la démo. Basculer sur Grafana (2e écran) en parlant.</a:t>
            </a:r>
          </a:p>
          <a:p>
            <a:r>
              <a:t>- Prometheus : collecte les métriques (CPU, RAM, requêtes) en scrapant pods et nœuds. 2 replicas, rétention 30 jours. ServiceMonitor sur l'app Laravel.</a:t>
            </a:r>
          </a:p>
          <a:p>
            <a:r>
              <a:t>- Grafana : l'écran unique. Métriques ET logs au même endroit — c'est la fenêtre qu'on garde ouverte pendant tout le stress test.</a:t>
            </a:r>
          </a:p>
          <a:p>
            <a:r>
              <a:t>- Loki + Promtail : Promtail pousse les logs de tous les pods vers Loki. On requête par namespace/app (ex. namespace=laravel).</a:t>
            </a:r>
          </a:p>
          <a:p>
            <a:r>
              <a:t>- Alertmanager : déclenche les alertes sur seuil. 3 replicas. On veut la voir se déclencher pendant la charge.</a:t>
            </a:r>
          </a:p>
          <a:p>
            <a:r>
              <a:t>Distinction : Prometheus = les chiffres, Loki = les logs, Grafana = l'affichage.</a:t>
            </a:r>
          </a:p>
          <a:p>
            <a:r>
              <a:t>Message clé : « Tout ce que je vais faire au cluster dans un instant, vous le verrez ici, en direct : les pods qui scalent, un nœud qui tombe, une alerte qui part. »</a:t>
            </a:r>
          </a:p>
          <a:p>
            <a:r>
              <a:t>Piège possible : « et si l'app va mal ? » → Grafana + Alertmanager pour les métriques, Loki pour retrouver l'erreur dans les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point d'attention explicite du follow-up : la faille liée à PHP.</a:t>
            </a:r>
          </a:p>
          <a:p>
            <a:r>
              <a:t>Le risque : le code PHP/Laravel d'origine a des points faibles typiques — secrets écrits en clair dans la config, image conteneur non durcie, process qui tourne avec trop de droits (root). La consigne nous autorise à modifier le code pour sécuriser.</a:t>
            </a:r>
          </a:p>
          <a:p>
            <a:r>
              <a:t>Nos contre-mesures (defense-in-depth, plusieurs couches) :</a:t>
            </a:r>
          </a:p>
          <a:p>
            <a:r>
              <a:t>- Secrets sortis du code, injectés via des Secrets Kubernetes en variables d'environnement.</a:t>
            </a:r>
          </a:p>
          <a:p>
            <a:r>
              <a:t>- Conteneur durci : runAsNonRoot, readOnlyRootFilesystem, drop de toutes les capabilities Linux.</a:t>
            </a:r>
          </a:p>
          <a:p>
            <a:r>
              <a:t>- OPA (Open Policy Agent) en admission controller : refuse à l'admission tout pod qui tourne en root ou sans limites de ressources — la mauvaise pratique est bloquée avant même de démarrer.</a:t>
            </a:r>
          </a:p>
          <a:p>
            <a:r>
              <a:t>- TLS automatique via cert-manager + Let's Encrypt sur les Ingress.</a:t>
            </a:r>
          </a:p>
          <a:p>
            <a:r>
              <a:t>- RBAC : chaque composant n'a que les droits nécessaires (moindre privilège).</a:t>
            </a:r>
          </a:p>
          <a:p>
            <a:r>
              <a:t>Message fort : on ne se contente pas d'un patch ponctuel — la sécurité est imposée par l'infrastructure elle-même.</a:t>
            </a:r>
          </a:p>
          <a:p>
            <a:r>
              <a:t>Preuve live possible (si le temps) : tenter `kubectl run` d'un pod en root ou sans limites → OPA le REFUSE à l'admission, sous les yeux du jury. Démonstration très parlante.</a:t>
            </a:r>
          </a:p>
          <a:p>
            <a:r>
              <a:t>Limites à assumer si on creuse : les Secrets K8s sont encodés base64, pas chiffrés dans etcd (piste : encryption at rest / Sealed Secrets). Honnêteté =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*** LE MOMENT DE LA DÉMO LIVE *** — pivot de la keynote. Garder Grafana visible.</a:t>
            </a:r>
          </a:p>
          <a:p>
            <a:r>
              <a:t>Chorégraphie (annoncer chaque étape avant de la lancer, puis montrer sur Grafana) :</a:t>
            </a:r>
          </a:p>
          <a:p>
            <a:r>
              <a:t>1. AUTOSCALING — lancer `./load-test.sh` (~400 req/s). Sur Grafana : le CPU monte, l'HPA crée des pods, on passe de 3 à 10. Commenter : `kubectl get hpa`, `kubectl get pods`.</a:t>
            </a:r>
          </a:p>
          <a:p>
            <a:r>
              <a:t>2. PANNE DE NŒUD — couper un nœud (drain / stop). Montrer que l'app répond toujours (3 replicas + anti-affinité) et que Kubernetes reschedule les pods perdus sur les nœuds restants.</a:t>
            </a:r>
          </a:p>
          <a:p>
            <a:r>
              <a:t>3. ROLLBACK — `./rollback-demo.sh` : déployer une version cassée → le site tombe → `helm rollback` → retour à la version stable, sans coupure (zéro-downtime).</a:t>
            </a:r>
          </a:p>
          <a:p>
            <a:r>
              <a:t>À chaque étape : « regardez le monitoring » — c'est la preuve visuelle.</a:t>
            </a:r>
          </a:p>
          <a:p>
            <a:r>
              <a:t>Répartir les rôles : un qui pilote les commandes, un qui commente Grafana, les autres prêts aux questions.</a:t>
            </a:r>
          </a:p>
          <a:p>
            <a:r>
              <a:t>Message : robustesse + observabilité + maîtrise. On traite ça comme une vraie prod (GitOps ArgoCD, autoscaling, backups, anti-affinité, OPA) — c'est là qu'on va chercher les bonus.</a:t>
            </a:r>
          </a:p>
          <a:p>
            <a:r>
              <a:t>Plan B si un scénario échoue en live : rester calme, l'expliquer avec le monitoring (les logs Loki), c'est aussi une démonstration de maîtrise.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Comment on s'est organisés (au passé — court, après la démo l'énergie est retombée, on reste bref).</a:t>
            </a:r>
          </a:p>
          <a:p>
            <a:r>
              <a:t>Jira : projet réellement piloté dans Jira. 6 Epics (KUB-1 à KUB-6) : cluster, observabilité, GitOps, migration, best practices, sécurité. Tickets traçables (KUB-7 à KUB-24), statut À faire / En cours / Terminé. Bonus et sécurité priorisés.</a:t>
            </a:r>
          </a:p>
          <a:p>
            <a:r>
              <a:t>Collaboration : binômes tournants sur les 4 VM (tout le monde a mis les mains dans le cluster), Git avec branches + Pull Requests relues, docs partagées (compte-rendu, banque de Q/R). Résultat : pas de silos, chacun sait tout expliquer — vous venez de le voir sur la démo.</a:t>
            </a:r>
          </a:p>
          <a:p>
            <a:r>
              <a:t>Si le jury demande Jira : prêt à montrer le board et un ticket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Pistes d'évolution — « si on poussait cette infra en prod réelle ». À présenter comme de la maturité, pas comme du travail inachevé.</a:t>
            </a:r>
          </a:p>
          <a:p>
            <a:r>
              <a:t>1) Généraliser le hands-on / la montée en compétence à l'échelle d'une vraie équipe ops (runbooks, astreinte).</a:t>
            </a:r>
          </a:p>
          <a:p>
            <a:r>
              <a:t>2) Dashboards &amp; alertes : enrichir les tableaux Grafana et router les alertes (Slack/mail, PagerDuty).</a:t>
            </a:r>
          </a:p>
          <a:p>
            <a:r>
              <a:t>3) Chaos engineering : automatiser les scénarios (charge, panne, rollback) en tests réguliers plutôt qu'en démo ponctuelle.</a:t>
            </a:r>
          </a:p>
          <a:p>
            <a:r>
              <a:t>4) Durcissement : chiffrement des Secrets (encryption at rest / Sealed Secrets / Vault), OIDC complet (dex + oauth-proxy), poursuite de la sécurisation du code PHP.</a:t>
            </a:r>
          </a:p>
          <a:p>
            <a:r>
              <a:t>Message : on connaît les limites et la trajectoire — c'est ce qui distingue une infra maîtrisée d'un projet « qui marche par hasard ».</a:t>
            </a:r>
          </a:p>
          <a:p>
            <a:r>
              <a:t>NB présentateur : cette slide s'intitule encore « Prochaines étapes / Feuille de route » — pour la keynote finale, la présenter comme des pistes d'amélioration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Clôture de la keynote finale (30 s).</a:t>
            </a:r>
          </a:p>
          <a:p>
            <a:r>
              <a:t>« Vous venez de le voir en direct : un cluster 4 nœuds, une app Laravel qui encaisse la charge, survit à la panne d'un nœud et revient d'un rollback sans coupure — le tout observé en temps réel sur le monitoring, avec une sécurité durcie. KubeQuest, c'est une chaîne complète et automatisée, du provisionnement AWS à l'app, déclarative, versionnée et reproductible : la promesse de Kubernetes en production. »</a:t>
            </a:r>
          </a:p>
          <a:p>
            <a:r>
              <a:t>Remercier. Inviter aux questions et se répartir : infra/Terraform, app/Helm, monitoring/observabilité, sécurité/OPA, GitOps/ArgoCD.</a:t>
            </a:r>
          </a:p>
          <a:p>
            <a:r>
              <a:t>Garder Grafana affiché pendant les questions — support visuel idéal.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9E8E"/>
                </a:solidFill>
                <a:latin typeface="Segoe UI"/>
              </a:rPr>
              <a:t>PROJET KUBEQUEST  ·  FOLLOW-UP D'AVANCEMENT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0B1F3A"/>
                </a:solidFill>
                <a:latin typeface="Segoe UI"/>
              </a:rPr>
              <a:t>Laravel → Kubernetes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4FB8"/>
                </a:solidFill>
                <a:latin typeface="Segoe UI"/>
              </a:rPr>
              <a:t>un cluster de production sur AWS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97680"/>
            <a:ext cx="1833372" cy="50292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833372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4FB8"/>
                </a:solidFill>
                <a:latin typeface="Segoe UI"/>
              </a:rPr>
              <a:t>4 nœuds AWS EC2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7500" y="4297680"/>
            <a:ext cx="1833372" cy="50292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57500" y="4297680"/>
            <a:ext cx="1833372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4FB8"/>
                </a:solidFill>
                <a:latin typeface="Segoe UI"/>
              </a:rPr>
              <a:t>Monitoring 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4297680"/>
            <a:ext cx="1833372" cy="50292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4297680"/>
            <a:ext cx="1833372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4FB8"/>
                </a:solidFill>
                <a:latin typeface="Segoe UI"/>
              </a:rPr>
              <a:t>GitOps / ArgoCD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6580" y="4297680"/>
            <a:ext cx="2253996" cy="50292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26580" y="4297680"/>
            <a:ext cx="2253996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4FB8"/>
                </a:solidFill>
                <a:latin typeface="Segoe UI"/>
              </a:rPr>
              <a:t>Sécurité PHP durcie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532120"/>
            <a:ext cx="10515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605272"/>
            <a:ext cx="10058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6B7A94"/>
                </a:solidFill>
                <a:latin typeface="Segoe UI"/>
              </a:rPr>
              <a:t>ÉQUIPE — GROUPE 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852160"/>
            <a:ext cx="10058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Segoe UI"/>
              </a:rPr>
              <a:t>Liora Toledano  ·  Zeyu Hou  ·  Nathan Han</a:t>
            </a:r>
            <a:r>
              <a:rPr sz="1200" b="0" i="0">
                <a:solidFill>
                  <a:srgbClr val="6B7A94"/>
                </a:solidFill>
                <a:latin typeface="Segoe UI"/>
              </a:rPr>
              <a:t>     Epitech MSc Pro Promo 2026 · Jira KUB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E8E"/>
                </a:solidFill>
                <a:latin typeface="Segoe UI"/>
              </a:rPr>
              <a:t>AVANCEMENT DU GROUPE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 dirty="0">
                <a:solidFill>
                  <a:srgbClr val="0B1F3A"/>
                </a:solidFill>
                <a:latin typeface="Segoe UI"/>
              </a:rPr>
              <a:t>Bootstrap </a:t>
            </a:r>
            <a:r>
              <a:rPr sz="3000" b="1" i="0" dirty="0" err="1">
                <a:solidFill>
                  <a:srgbClr val="0B1F3A"/>
                </a:solidFill>
                <a:latin typeface="Segoe UI"/>
              </a:rPr>
              <a:t>terminé</a:t>
            </a:r>
            <a:r>
              <a:rPr sz="3000" b="1" i="0" dirty="0">
                <a:solidFill>
                  <a:srgbClr val="0B1F3A"/>
                </a:solidFill>
                <a:latin typeface="Segoe UI"/>
              </a:rPr>
              <a:t> — passage à </a:t>
            </a:r>
            <a:r>
              <a:rPr sz="3000" b="1" i="0" dirty="0" err="1">
                <a:solidFill>
                  <a:srgbClr val="0B1F3A"/>
                </a:solidFill>
                <a:latin typeface="Segoe UI"/>
              </a:rPr>
              <a:t>l'échelle</a:t>
            </a:r>
            <a:r>
              <a:rPr sz="3000" b="1" i="0" dirty="0">
                <a:solidFill>
                  <a:srgbClr val="0B1F3A"/>
                </a:solidFill>
                <a:latin typeface="Segoe UI"/>
              </a:rPr>
              <a:t> fait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611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9728" cy="2286000"/>
          </a:xfrm>
          <a:prstGeom prst="rect">
            <a:avLst/>
          </a:prstGeom>
          <a:solidFill>
            <a:srgbClr val="1B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15468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0B1F3A"/>
                </a:solidFill>
                <a:latin typeface="Segoe UI"/>
              </a:rPr>
              <a:t>Bootstrap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3154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B9E5F"/>
                </a:solidFill>
                <a:latin typeface="Segoe UI"/>
              </a:rPr>
              <a:t>TERMINÉ POUR TOUS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310896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425C"/>
                </a:solidFill>
                <a:latin typeface="Segoe UI"/>
              </a:rPr>
              <a:t>Environnement prêt pour chaque membre.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2057400"/>
            <a:ext cx="3611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07992" y="2057400"/>
            <a:ext cx="109728" cy="2286000"/>
          </a:xfrm>
          <a:prstGeom prst="rect">
            <a:avLst/>
          </a:prstGeom>
          <a:solidFill>
            <a:srgbClr val="0E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82312" y="2377440"/>
            <a:ext cx="315468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0B1F3A"/>
                </a:solidFill>
                <a:latin typeface="Segoe UI"/>
              </a:rPr>
              <a:t>2 → 4 nœuds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3108960"/>
            <a:ext cx="3154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9E8E"/>
                </a:solidFill>
                <a:latin typeface="Segoe UI"/>
              </a:rPr>
              <a:t>OBJECTIF DÉPASSÉ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3566160"/>
            <a:ext cx="310896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425C"/>
                </a:solidFill>
                <a:latin typeface="Segoe UI"/>
              </a:rPr>
              <a:t>4 VM EC2 spécialisées.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75904" y="2057400"/>
            <a:ext cx="3611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75904" y="2057400"/>
            <a:ext cx="109728" cy="2286000"/>
          </a:xfrm>
          <a:prstGeom prst="rect">
            <a:avLst/>
          </a:prstGeom>
          <a:solidFill>
            <a:srgbClr val="1B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50224" y="2377440"/>
            <a:ext cx="315468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0B1F3A"/>
                </a:solidFill>
                <a:latin typeface="Segoe UI"/>
              </a:rPr>
              <a:t>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0224" y="3108960"/>
            <a:ext cx="3154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B9E5F"/>
                </a:solidFill>
                <a:latin typeface="Segoe UI"/>
              </a:rPr>
              <a:t>EN LIGNE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3566160"/>
            <a:ext cx="310896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dirty="0">
                <a:solidFill>
                  <a:srgbClr val="33425C"/>
                </a:solidFill>
                <a:latin typeface="Segoe UI"/>
              </a:rPr>
              <a:t>Laravel HTTP 200, DB </a:t>
            </a:r>
            <a:r>
              <a:rPr sz="1400" b="0" i="0" dirty="0" err="1">
                <a:solidFill>
                  <a:srgbClr val="33425C"/>
                </a:solidFill>
                <a:latin typeface="Segoe UI"/>
              </a:rPr>
              <a:t>connectée</a:t>
            </a:r>
            <a:r>
              <a:rPr sz="1400" b="0" i="0" dirty="0">
                <a:solidFill>
                  <a:srgbClr val="33425C"/>
                </a:solidFill>
                <a:latin typeface="Segoe U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46320"/>
            <a:ext cx="10972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 dirty="0">
                <a:solidFill>
                  <a:srgbClr val="1E4FB8"/>
                </a:solidFill>
                <a:latin typeface="Segoe UI"/>
              </a:rPr>
              <a:t>Nous ne </a:t>
            </a:r>
            <a:r>
              <a:rPr sz="1700" b="1" i="0" dirty="0" err="1">
                <a:solidFill>
                  <a:srgbClr val="1E4FB8"/>
                </a:solidFill>
                <a:latin typeface="Segoe UI"/>
              </a:rPr>
              <a:t>sommes</a:t>
            </a:r>
            <a:r>
              <a:rPr sz="1700" b="1" i="0" dirty="0">
                <a:solidFill>
                  <a:srgbClr val="1E4FB8"/>
                </a:solidFill>
                <a:latin typeface="Segoe UI"/>
              </a:rPr>
              <a:t> plus au </a:t>
            </a:r>
            <a:r>
              <a:rPr sz="1700" b="1" i="0" dirty="0" err="1">
                <a:solidFill>
                  <a:srgbClr val="1E4FB8"/>
                </a:solidFill>
                <a:latin typeface="Segoe UI"/>
              </a:rPr>
              <a:t>stade</a:t>
            </a:r>
            <a:r>
              <a:rPr sz="1700" b="1" i="0" dirty="0">
                <a:solidFill>
                  <a:srgbClr val="1E4FB8"/>
                </a:solidFill>
                <a:latin typeface="Segoe UI"/>
              </a:rPr>
              <a:t> du bootstrap — déjà </a:t>
            </a:r>
            <a:r>
              <a:rPr sz="1700" b="1" i="0" dirty="0" err="1">
                <a:solidFill>
                  <a:srgbClr val="1E4FB8"/>
                </a:solidFill>
                <a:latin typeface="Segoe UI"/>
              </a:rPr>
              <a:t>en</a:t>
            </a:r>
            <a:r>
              <a:rPr sz="1700" b="1" i="0" dirty="0">
                <a:solidFill>
                  <a:srgbClr val="1E4FB8"/>
                </a:solidFill>
                <a:latin typeface="Segoe UI"/>
              </a:rPr>
              <a:t> phase production.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4"/>
                </a:solidFill>
                <a:latin typeface="Segoe UI"/>
              </a:rPr>
              <a:t>KubeQuest — Groupe 50 · Epitech MSc Pro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4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E8E"/>
                </a:solidFill>
                <a:latin typeface="Segoe UI"/>
              </a:rPr>
              <a:t>OBJECTIFS DU PROCHAIN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 dirty="0">
                <a:solidFill>
                  <a:srgbClr val="0B1F3A"/>
                </a:solidFill>
                <a:latin typeface="Segoe UI"/>
              </a:rPr>
              <a:t>Les </a:t>
            </a:r>
            <a:r>
              <a:rPr lang="fr-FR" sz="3000" b="1" i="0" dirty="0">
                <a:solidFill>
                  <a:srgbClr val="0B1F3A"/>
                </a:solidFill>
                <a:latin typeface="Segoe UI"/>
              </a:rPr>
              <a:t>2</a:t>
            </a:r>
            <a:r>
              <a:rPr sz="3000" b="1" i="0" dirty="0">
                <a:solidFill>
                  <a:srgbClr val="0B1F3A"/>
                </a:solidFill>
                <a:latin typeface="Segoe UI"/>
              </a:rPr>
              <a:t> </a:t>
            </a:r>
            <a:r>
              <a:rPr sz="3000" b="1" i="0" dirty="0" err="1">
                <a:solidFill>
                  <a:srgbClr val="0B1F3A"/>
                </a:solidFill>
                <a:latin typeface="Segoe UI"/>
              </a:rPr>
              <a:t>objectifs</a:t>
            </a:r>
            <a:r>
              <a:rPr sz="3000" b="1" i="0" dirty="0">
                <a:solidFill>
                  <a:srgbClr val="0B1F3A"/>
                </a:solidFill>
                <a:latin typeface="Segoe UI"/>
              </a:rPr>
              <a:t> — état </a:t>
            </a:r>
            <a:r>
              <a:rPr sz="3000" b="1" i="0" dirty="0" err="1">
                <a:solidFill>
                  <a:srgbClr val="0B1F3A"/>
                </a:solidFill>
                <a:latin typeface="Segoe UI"/>
              </a:rPr>
              <a:t>actuel</a:t>
            </a:r>
            <a:endParaRPr sz="3000" b="1" i="0" dirty="0">
              <a:solidFill>
                <a:srgbClr val="0B1F3A"/>
              </a:solidFill>
              <a:latin typeface="Segoe U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1431873"/>
            <a:ext cx="10927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5800" y="1770201"/>
            <a:ext cx="548640" cy="548640"/>
          </a:xfrm>
          <a:prstGeom prst="ellipse">
            <a:avLst/>
          </a:prstGeom>
          <a:solidFill>
            <a:srgbClr val="1B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1770201"/>
            <a:ext cx="5486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1669617"/>
            <a:ext cx="81381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0B1F3A"/>
                </a:solidFill>
                <a:latin typeface="Segoe UI"/>
              </a:rPr>
              <a:t>Stack de monitoring bien </a:t>
            </a:r>
            <a:r>
              <a:rPr sz="1800" b="1" i="0" dirty="0" err="1">
                <a:solidFill>
                  <a:srgbClr val="0B1F3A"/>
                </a:solidFill>
                <a:latin typeface="Segoe UI"/>
              </a:rPr>
              <a:t>avancée</a:t>
            </a:r>
            <a:endParaRPr sz="1800" b="1" i="0" dirty="0">
              <a:solidFill>
                <a:srgbClr val="0B1F3A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63040" y="2145105"/>
            <a:ext cx="81381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25C"/>
                </a:solidFill>
                <a:latin typeface="Segoe UI"/>
              </a:rPr>
              <a:t>Prometheus + Grafana + Loki opérationnels.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1843353"/>
            <a:ext cx="1463040" cy="411480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1B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38360" y="1843353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9E5F"/>
                </a:solidFill>
                <a:latin typeface="Segoe UI"/>
              </a:rPr>
              <a:t>FAIT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926857"/>
            <a:ext cx="10927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85800" y="3187521"/>
            <a:ext cx="548640" cy="548640"/>
          </a:xfrm>
          <a:prstGeom prst="ellipse">
            <a:avLst/>
          </a:prstGeom>
          <a:solidFill>
            <a:srgbClr val="1B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187521"/>
            <a:ext cx="5486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086937"/>
            <a:ext cx="81381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0B1F3A"/>
                </a:solidFill>
                <a:latin typeface="Segoe UI"/>
              </a:rPr>
              <a:t>Schéma</a:t>
            </a:r>
            <a:r>
              <a:rPr sz="1800" b="1" i="0" dirty="0">
                <a:solidFill>
                  <a:srgbClr val="0B1F3A"/>
                </a:solidFill>
                <a:latin typeface="Segoe UI"/>
              </a:rPr>
              <a:t> </a:t>
            </a:r>
            <a:r>
              <a:rPr sz="1800" b="1" i="0" dirty="0" err="1">
                <a:solidFill>
                  <a:srgbClr val="0B1F3A"/>
                </a:solidFill>
                <a:latin typeface="Segoe UI"/>
              </a:rPr>
              <a:t>d'architecture</a:t>
            </a:r>
            <a:r>
              <a:rPr sz="1800" b="1" i="0" dirty="0">
                <a:solidFill>
                  <a:srgbClr val="0B1F3A"/>
                </a:solidFill>
                <a:latin typeface="Segoe UI"/>
              </a:rPr>
              <a:t> </a:t>
            </a:r>
            <a:r>
              <a:rPr sz="1800" b="1" i="0" dirty="0" err="1">
                <a:solidFill>
                  <a:srgbClr val="0B1F3A"/>
                </a:solidFill>
                <a:latin typeface="Segoe UI"/>
              </a:rPr>
              <a:t>présentable</a:t>
            </a:r>
            <a:r>
              <a:rPr sz="1800" b="1" i="0" dirty="0">
                <a:solidFill>
                  <a:srgbClr val="0B1F3A"/>
                </a:solidFill>
                <a:latin typeface="Segoe UI"/>
              </a:rPr>
              <a:t> par chacun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562425"/>
            <a:ext cx="81381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25C"/>
                </a:solidFill>
                <a:latin typeface="Segoe UI"/>
              </a:rPr>
              <a:t>Schéma 4 nœuds formalisé (slide suivante).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3260673"/>
            <a:ext cx="1463040" cy="411480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1B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38360" y="3260673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9E5F"/>
                </a:solidFill>
                <a:latin typeface="Segoe UI"/>
              </a:rPr>
              <a:t>FAIT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4"/>
                </a:solidFill>
                <a:latin typeface="Segoe UI"/>
              </a:rPr>
              <a:t>KubeQuest — Groupe 50 · Epitech MSc Pro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4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E8E"/>
                </a:solidFill>
                <a:latin typeface="Segoe UI"/>
              </a:rPr>
              <a:t>SCHÉMA D'ARCHITECTURE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Segoe UI"/>
              </a:rPr>
              <a:t>4 nœuds spécialisés — le chemin d'une requête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1234440" cy="1005840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0E9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234440" cy="10058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0B1F3A"/>
                </a:solidFill>
                <a:latin typeface="Segoe UI"/>
              </a:rPr>
              <a:t>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1F3A"/>
                </a:solidFill>
                <a:latin typeface="Segoe UI"/>
              </a:rPr>
              <a:t>Utilisateur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2423160"/>
            <a:ext cx="23317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240280" y="2423160"/>
            <a:ext cx="2331720" cy="457200"/>
          </a:xfrm>
          <a:prstGeom prst="round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40280" y="2651760"/>
            <a:ext cx="2331720" cy="2286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40280" y="2441448"/>
            <a:ext cx="2331720" cy="4389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node-3 · INGRESS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8296" y="2953512"/>
            <a:ext cx="2112264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E4FB8"/>
                </a:solidFill>
                <a:latin typeface="Segoe UI"/>
              </a:rPr>
              <a:t>Porte d'entrée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8296" y="3264408"/>
            <a:ext cx="2112264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425C"/>
                </a:solidFill>
                <a:latin typeface="Segoe UI"/>
              </a:rPr>
              <a:t>• nginx-ingress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8296" y="3520440"/>
            <a:ext cx="2112264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425C"/>
                </a:solidFill>
                <a:latin typeface="Segoe UI"/>
              </a:rPr>
              <a:t>• TLS cert-manager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8296" y="3776472"/>
            <a:ext cx="2112264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425C"/>
                </a:solidFill>
                <a:latin typeface="Segoe UI"/>
              </a:rPr>
              <a:t>• NodePort 32222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423160"/>
            <a:ext cx="23317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754880" y="2423160"/>
            <a:ext cx="2331720" cy="457200"/>
          </a:xfrm>
          <a:prstGeom prst="roundRect">
            <a:avLst/>
          </a:prstGeom>
          <a:solidFill>
            <a:srgbClr val="1B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54880" y="2651760"/>
            <a:ext cx="2331720" cy="228600"/>
          </a:xfrm>
          <a:prstGeom prst="rect">
            <a:avLst/>
          </a:prstGeom>
          <a:solidFill>
            <a:srgbClr val="1B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0" y="2441448"/>
            <a:ext cx="2331720" cy="4389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node-1 · CONTROL PLANE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6" y="2953512"/>
            <a:ext cx="2112264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E4FB8"/>
                </a:solidFill>
                <a:latin typeface="Segoe UI"/>
              </a:rPr>
              <a:t>Cerveau + worker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6" y="3264408"/>
            <a:ext cx="2112264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425C"/>
                </a:solidFill>
                <a:latin typeface="Segoe UI"/>
              </a:rPr>
              <a:t>• API server / etcd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2896" y="3520440"/>
            <a:ext cx="2112264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425C"/>
                </a:solidFill>
                <a:latin typeface="Segoe UI"/>
              </a:rPr>
              <a:t>• scheduler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2896" y="3776472"/>
            <a:ext cx="2112264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425C"/>
                </a:solidFill>
                <a:latin typeface="Segoe UI"/>
              </a:rPr>
              <a:t>• Calico CNI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2423160"/>
            <a:ext cx="23317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269480" y="2423160"/>
            <a:ext cx="2331720" cy="457200"/>
          </a:xfrm>
          <a:prstGeom prst="roundRect">
            <a:avLst/>
          </a:prstGeom>
          <a:solidFill>
            <a:srgbClr val="1B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69480" y="2651760"/>
            <a:ext cx="2331720" cy="228600"/>
          </a:xfrm>
          <a:prstGeom prst="rect">
            <a:avLst/>
          </a:prstGeom>
          <a:solidFill>
            <a:srgbClr val="1B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69480" y="2441448"/>
            <a:ext cx="2331720" cy="4389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node-2 · WORKER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97496" y="2953512"/>
            <a:ext cx="2112264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E4FB8"/>
                </a:solidFill>
                <a:latin typeface="Segoe UI"/>
              </a:rPr>
              <a:t>Le métier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7496" y="3264408"/>
            <a:ext cx="2112264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425C"/>
                </a:solidFill>
                <a:latin typeface="Segoe UI"/>
              </a:rPr>
              <a:t>• App Laravel ×3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7496" y="3520440"/>
            <a:ext cx="2112264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425C"/>
                </a:solidFill>
                <a:latin typeface="Segoe UI"/>
              </a:rPr>
              <a:t>• Base de données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7496" y="3776472"/>
            <a:ext cx="2112264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425C"/>
                </a:solidFill>
                <a:latin typeface="Segoe UI"/>
              </a:rPr>
              <a:t>• HPA 3→10 pods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2423160"/>
            <a:ext cx="23317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7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784080" y="2423160"/>
            <a:ext cx="2331720" cy="457200"/>
          </a:xfrm>
          <a:prstGeom prst="roundRect">
            <a:avLst/>
          </a:prstGeom>
          <a:solidFill>
            <a:srgbClr val="C7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784080" y="2651760"/>
            <a:ext cx="2331720" cy="228600"/>
          </a:xfrm>
          <a:prstGeom prst="rect">
            <a:avLst/>
          </a:prstGeom>
          <a:solidFill>
            <a:srgbClr val="C7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84080" y="2441448"/>
            <a:ext cx="2331720" cy="4389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node-4 · MONITORING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2096" y="2953512"/>
            <a:ext cx="2112264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E4FB8"/>
                </a:solidFill>
                <a:latin typeface="Segoe UI"/>
              </a:rPr>
              <a:t>Observabilité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12096" y="3264408"/>
            <a:ext cx="2112264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425C"/>
                </a:solidFill>
                <a:latin typeface="Segoe UI"/>
              </a:rPr>
              <a:t>• Prometheus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12096" y="3520440"/>
            <a:ext cx="2112264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425C"/>
                </a:solidFill>
                <a:latin typeface="Segoe UI"/>
              </a:rPr>
              <a:t>• Grafana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12096" y="3776472"/>
            <a:ext cx="2112264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425C"/>
                </a:solidFill>
                <a:latin typeface="Segoe UI"/>
              </a:rPr>
              <a:t>• Loki + Promtail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874519" y="3429000"/>
            <a:ext cx="365761" cy="0"/>
          </a:xfrm>
          <a:prstGeom prst="bentConnector3">
            <a:avLst/>
          </a:prstGeom>
          <a:ln w="28575">
            <a:solidFill>
              <a:srgbClr val="0E9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72000" y="3429000"/>
            <a:ext cx="182880" cy="0"/>
          </a:xfrm>
          <a:prstGeom prst="bentConnector3">
            <a:avLst/>
          </a:prstGeom>
          <a:ln w="28575">
            <a:solidFill>
              <a:srgbClr val="0E9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086600" y="3429000"/>
            <a:ext cx="182880" cy="0"/>
          </a:xfrm>
          <a:prstGeom prst="bentConnector3">
            <a:avLst/>
          </a:prstGeom>
          <a:ln w="28575">
            <a:solidFill>
              <a:srgbClr val="0E9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601200" y="3794760"/>
            <a:ext cx="182880" cy="0"/>
          </a:xfrm>
          <a:prstGeom prst="bentConnector3">
            <a:avLst/>
          </a:prstGeom>
          <a:ln w="28575">
            <a:solidFill>
              <a:srgbClr val="C77A0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0080" y="489204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E4FB8"/>
                </a:solidFill>
                <a:latin typeface="Segoe UI"/>
              </a:rPr>
              <a:t>User → Ingress → Laravel → DB.  node-4 observe tout le cluster.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7A94"/>
                </a:solidFill>
                <a:latin typeface="Segoe UI"/>
              </a:rPr>
              <a:t>K8s v1.31 · containerd · Calico · nginx-ingress · Terraform · Helm · ArgoCD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4"/>
                </a:solidFill>
                <a:latin typeface="Segoe UI"/>
              </a:rPr>
              <a:t>KubeQuest — Groupe 50 · Epitech MSc Pro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4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E8E"/>
                </a:solidFill>
                <a:latin typeface="Segoe UI"/>
              </a:rPr>
              <a:t>STACK DE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Segoe UI"/>
              </a:rPr>
              <a:t>Observabilité — opérationnelle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394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109728" cy="155448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85416"/>
            <a:ext cx="35661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B1F3A"/>
                </a:solidFill>
                <a:latin typeface="Segoe UI"/>
              </a:rPr>
              <a:t>Prometheus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240280"/>
            <a:ext cx="1188720" cy="36576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240280"/>
            <a:ext cx="11887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26CE5"/>
                </a:solidFill>
                <a:latin typeface="Segoe UI"/>
              </a:rPr>
              <a:t>Métriques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34640"/>
            <a:ext cx="48006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425C"/>
                </a:solidFill>
                <a:latin typeface="Segoe UI"/>
              </a:rPr>
              <a:t>Scrape pods &amp; nœuds · rétention 30 j.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965960"/>
            <a:ext cx="5394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91072" y="1965960"/>
            <a:ext cx="109728" cy="1554480"/>
          </a:xfrm>
          <a:prstGeom prst="rect">
            <a:avLst/>
          </a:prstGeom>
          <a:solidFill>
            <a:srgbClr val="C7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2185416"/>
            <a:ext cx="35661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B1F3A"/>
                </a:solidFill>
                <a:latin typeface="Segoe UI"/>
              </a:rPr>
              <a:t>Grafana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68712" y="2240280"/>
            <a:ext cx="1188720" cy="36576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C77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68712" y="2240280"/>
            <a:ext cx="11887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77A0A"/>
                </a:solidFill>
                <a:latin typeface="Segoe UI"/>
              </a:rPr>
              <a:t>Visualisation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834640"/>
            <a:ext cx="48006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425C"/>
                </a:solidFill>
                <a:latin typeface="Segoe UI"/>
              </a:rPr>
              <a:t>Dashboards + logs, une seule UI.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76472"/>
            <a:ext cx="5394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776472"/>
            <a:ext cx="109728" cy="1554480"/>
          </a:xfrm>
          <a:prstGeom prst="rect">
            <a:avLst/>
          </a:prstGeom>
          <a:solidFill>
            <a:srgbClr val="0E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995928"/>
            <a:ext cx="35661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B1F3A"/>
                </a:solidFill>
                <a:latin typeface="Segoe UI"/>
              </a:rPr>
              <a:t>Loki + Promtail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050792"/>
            <a:ext cx="1188720" cy="36576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0E9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4050792"/>
            <a:ext cx="11887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9E8E"/>
                </a:solidFill>
                <a:latin typeface="Segoe UI"/>
              </a:rPr>
              <a:t>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645152"/>
            <a:ext cx="48006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425C"/>
                </a:solidFill>
                <a:latin typeface="Segoe UI"/>
              </a:rPr>
              <a:t>Logs de tous les pods, centralisés.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3776472"/>
            <a:ext cx="5394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91072" y="3776472"/>
            <a:ext cx="109728" cy="1554480"/>
          </a:xfrm>
          <a:prstGeom prst="rect">
            <a:avLst/>
          </a:prstGeom>
          <a:solidFill>
            <a:srgbClr val="D6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11112" y="3995928"/>
            <a:ext cx="35661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B1F3A"/>
                </a:solidFill>
                <a:latin typeface="Segoe UI"/>
              </a:rPr>
              <a:t>Alertmanager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68712" y="4050792"/>
            <a:ext cx="1188720" cy="365760"/>
          </a:xfrm>
          <a:prstGeom prst="roundRect">
            <a:avLst/>
          </a:prstGeom>
          <a:solidFill>
            <a:srgbClr val="ECF2FB"/>
          </a:solidFill>
          <a:ln w="12700">
            <a:solidFill>
              <a:srgbClr val="D64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68712" y="4050792"/>
            <a:ext cx="11887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D64535"/>
                </a:solidFill>
                <a:latin typeface="Segoe UI"/>
              </a:rPr>
              <a:t>Alertes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4645152"/>
            <a:ext cx="48006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425C"/>
                </a:solidFill>
                <a:latin typeface="Segoe UI"/>
              </a:rPr>
              <a:t>Alertes sur seuils · 3 replicas.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E4FB8"/>
                </a:solidFill>
                <a:latin typeface="Segoe UI"/>
              </a:rPr>
              <a:t>À la keynote : la preuve, en direct, du comportement sous stress.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4"/>
                </a:solidFill>
                <a:latin typeface="Segoe UI"/>
              </a:rPr>
              <a:t>KubeQuest — Groupe 50 · Epitech MSc Pro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4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E8E"/>
                </a:solidFill>
                <a:latin typeface="Segoe UI"/>
              </a:rPr>
              <a:t>POINT D'ATTENTION · SÉCURITÉ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Segoe UI"/>
              </a:rPr>
              <a:t>La faille PHP — prise en charge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49240" cy="3383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4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463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D64535"/>
                </a:solidFill>
                <a:latin typeface="Segoe UI"/>
              </a:rPr>
              <a:t>⚠  Le risque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892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D64535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25C"/>
                </a:solidFill>
                <a:latin typeface="Segoe UI"/>
              </a:rPr>
              <a:t>Secrets en clair / config par défaut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892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D64535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25C"/>
                </a:solidFill>
                <a:latin typeface="Segoe UI"/>
              </a:rPr>
              <a:t>Conteneur non durci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4892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D64535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25C"/>
                </a:solidFill>
                <a:latin typeface="Segoe UI"/>
              </a:rPr>
              <a:t>Droits trop larges à l'exécution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48920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C77A0A"/>
                </a:solidFill>
                <a:latin typeface="Segoe UI"/>
              </a:rPr>
              <a:t>Consigne : libres de modifier le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20240"/>
            <a:ext cx="5349240" cy="3383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463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B9E5F"/>
                </a:solidFill>
                <a:latin typeface="Segoe UI"/>
              </a:rPr>
              <a:t>✓  Nos contre-mesures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43200"/>
            <a:ext cx="4892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9E5F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25C"/>
                </a:solidFill>
                <a:latin typeface="Segoe UI"/>
              </a:rPr>
              <a:t>Secrets → Secrets Kubernetes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18688"/>
            <a:ext cx="4892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9E5F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25C"/>
                </a:solidFill>
                <a:latin typeface="Segoe UI"/>
              </a:rPr>
              <a:t>Conteneur durci (nonRoot, RO FS, drop caps)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94176"/>
            <a:ext cx="4892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9E5F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25C"/>
                </a:solidFill>
                <a:latin typeface="Segoe UI"/>
              </a:rPr>
              <a:t>OPA : refuse root / sans limites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169664"/>
            <a:ext cx="4892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9E5F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25C"/>
                </a:solidFill>
                <a:latin typeface="Segoe UI"/>
              </a:rPr>
              <a:t>TLS auto (cert-manager)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645152"/>
            <a:ext cx="4892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9E5F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25C"/>
                </a:solidFill>
                <a:latin typeface="Segoe UI"/>
              </a:rPr>
              <a:t>RBAC : moindre privilège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4FB8"/>
                </a:solidFill>
                <a:latin typeface="Segoe UI"/>
              </a:rPr>
              <a:t>Sécurité imposée par l'infra elle-même — defense-in-depth.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4"/>
                </a:solidFill>
                <a:latin typeface="Segoe UI"/>
              </a:rPr>
              <a:t>KubeQuest — Groupe 50 · Epitech MSc Pro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4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E8E"/>
                </a:solidFill>
                <a:latin typeface="Segoe UI"/>
              </a:rPr>
              <a:t>KEYNOTE ·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Segoe UI"/>
              </a:rPr>
              <a:t>Mettre l'infra à rude épreuve — et le prouver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611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3611880" cy="91440"/>
          </a:xfrm>
          <a:prstGeom prst="round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61188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0" i="0">
                <a:solidFill>
                  <a:srgbClr val="0B1F3A"/>
                </a:solidFill>
                <a:latin typeface="Segoe UI"/>
              </a:rPr>
              <a:t>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31546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26CE5"/>
                </a:solidFill>
                <a:latin typeface="Segoe UI"/>
              </a:rPr>
              <a:t>Robustesse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30632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25C"/>
                </a:solidFill>
                <a:latin typeface="Segoe UI"/>
              </a:rPr>
              <a:t>Charge, panne, version cassée.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2057400"/>
            <a:ext cx="3611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07992" y="2057400"/>
            <a:ext cx="3611880" cy="91440"/>
          </a:xfrm>
          <a:prstGeom prst="roundRect">
            <a:avLst/>
          </a:prstGeom>
          <a:solidFill>
            <a:srgbClr val="C7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2377440"/>
            <a:ext cx="361188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0" i="0">
                <a:solidFill>
                  <a:srgbClr val="0B1F3A"/>
                </a:solidFill>
                <a:latin typeface="Segoe UI"/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108960"/>
            <a:ext cx="31546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C77A0A"/>
                </a:solidFill>
                <a:latin typeface="Segoe UI"/>
              </a:rPr>
              <a:t>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3566160"/>
            <a:ext cx="30632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25C"/>
                </a:solidFill>
                <a:latin typeface="Segoe UI"/>
              </a:rPr>
              <a:t>Grafana en direct : scale, reschedule, alertes.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75904" y="2057400"/>
            <a:ext cx="3611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75904" y="2057400"/>
            <a:ext cx="3611880" cy="91440"/>
          </a:xfrm>
          <a:prstGeom prst="roundRect">
            <a:avLst/>
          </a:prstGeom>
          <a:solidFill>
            <a:srgbClr val="0E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75904" y="2377440"/>
            <a:ext cx="361188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0" i="0">
                <a:solidFill>
                  <a:srgbClr val="0B1F3A"/>
                </a:solidFill>
                <a:latin typeface="Segoe UI"/>
              </a:rP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4504" y="3108960"/>
            <a:ext cx="31546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E9E8E"/>
                </a:solidFill>
                <a:latin typeface="Segoe UI"/>
              </a:rPr>
              <a:t>Maîtrise K8s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3566160"/>
            <a:ext cx="30632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25C"/>
                </a:solidFill>
                <a:latin typeface="Segoe UI"/>
              </a:rPr>
              <a:t>Chacun explique le comportement.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17720"/>
            <a:ext cx="10927080" cy="1051560"/>
          </a:xfrm>
          <a:prstGeom prst="roundRect">
            <a:avLst/>
          </a:prstGeom>
          <a:solidFill>
            <a:srgbClr val="ECF2FB"/>
          </a:solidFill>
          <a:ln w="15875">
            <a:solidFill>
              <a:srgbClr val="0E9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1042416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9E8E"/>
                </a:solidFill>
                <a:latin typeface="Segoe UI"/>
              </a:rPr>
              <a:t>Bonus : ArgoCD, autoscaling, backups, OPA → traité comme une vraie infra de prod.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4"/>
                </a:solidFill>
                <a:latin typeface="Segoe UI"/>
              </a:rPr>
              <a:t>KubeQuest — Groupe 50 · Epitech MSc Pro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4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E8E"/>
                </a:solidFill>
                <a:latin typeface="Segoe UI"/>
              </a:rPr>
              <a:t>ORGANISATION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Segoe UI"/>
              </a:rPr>
              <a:t>Collaboratif, piloté par Jira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3492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E4FB8"/>
                </a:solidFill>
                <a:latin typeface="Segoe UI"/>
              </a:rPr>
              <a:t>Jira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4892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26CE5"/>
                </a:solidFill>
                <a:latin typeface="Segoe UI"/>
              </a:rPr>
              <a:t>▸ </a:t>
            </a:r>
            <a:r>
              <a:rPr sz="1450" b="0" i="0">
                <a:solidFill>
                  <a:srgbClr val="33425C"/>
                </a:solidFill>
                <a:latin typeface="Segoe UI"/>
              </a:rPr>
              <a:t>6 Epics (KUB-1 → KUB-6)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892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26CE5"/>
                </a:solidFill>
                <a:latin typeface="Segoe UI"/>
              </a:rPr>
              <a:t>▸ </a:t>
            </a:r>
            <a:r>
              <a:rPr sz="1450" b="0" i="0">
                <a:solidFill>
                  <a:srgbClr val="33425C"/>
                </a:solidFill>
                <a:latin typeface="Segoe UI"/>
              </a:rPr>
              <a:t>Tickets traçables (KUB-7 … KUB-24)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892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26CE5"/>
                </a:solidFill>
                <a:latin typeface="Segoe UI"/>
              </a:rPr>
              <a:t>▸ </a:t>
            </a:r>
            <a:r>
              <a:rPr sz="1450" b="0" i="0">
                <a:solidFill>
                  <a:srgbClr val="33425C"/>
                </a:solidFill>
                <a:latin typeface="Segoe UI"/>
              </a:rPr>
              <a:t>Statut : À faire / En cours / Terminé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4892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26CE5"/>
                </a:solidFill>
                <a:latin typeface="Segoe UI"/>
              </a:rPr>
              <a:t>▸ </a:t>
            </a:r>
            <a:r>
              <a:rPr sz="1450" b="0" i="0">
                <a:solidFill>
                  <a:srgbClr val="33425C"/>
                </a:solidFill>
                <a:latin typeface="Segoe UI"/>
              </a:rPr>
              <a:t>Bonus &amp; sécurité priorisés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011680"/>
            <a:ext cx="53492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240280"/>
            <a:ext cx="48463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E4FB8"/>
                </a:solidFill>
                <a:latin typeface="Segoe UI"/>
              </a:rPr>
              <a:t>Collaboration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880360"/>
            <a:ext cx="4892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9E8E"/>
                </a:solidFill>
                <a:latin typeface="Segoe UI"/>
              </a:rPr>
              <a:t>▸ </a:t>
            </a:r>
            <a:r>
              <a:rPr sz="1450" b="0" i="0">
                <a:solidFill>
                  <a:srgbClr val="33425C"/>
                </a:solidFill>
                <a:latin typeface="Segoe UI"/>
              </a:rPr>
              <a:t>Binômes tournants sur les 4 VM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429000"/>
            <a:ext cx="4892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9E8E"/>
                </a:solidFill>
                <a:latin typeface="Segoe UI"/>
              </a:rPr>
              <a:t>▸ </a:t>
            </a:r>
            <a:r>
              <a:rPr sz="1450" b="0" i="0">
                <a:solidFill>
                  <a:srgbClr val="33425C"/>
                </a:solidFill>
                <a:latin typeface="Segoe UI"/>
              </a:rPr>
              <a:t>Git : branches + Pull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40"/>
            <a:ext cx="4892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9E8E"/>
                </a:solidFill>
                <a:latin typeface="Segoe UI"/>
              </a:rPr>
              <a:t>▸ </a:t>
            </a:r>
            <a:r>
              <a:rPr sz="1450" b="0" i="0">
                <a:solidFill>
                  <a:srgbClr val="33425C"/>
                </a:solidFill>
                <a:latin typeface="Segoe UI"/>
              </a:rPr>
              <a:t>Docs partagées (compte-rendu, Q/R)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26280"/>
            <a:ext cx="4892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9E8E"/>
                </a:solidFill>
                <a:latin typeface="Segoe UI"/>
              </a:rPr>
              <a:t>▸ </a:t>
            </a:r>
            <a:r>
              <a:rPr sz="1450" b="0" i="0">
                <a:solidFill>
                  <a:srgbClr val="33425C"/>
                </a:solidFill>
                <a:latin typeface="Segoe UI"/>
              </a:rPr>
              <a:t>Chacun sait tout expliquer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4"/>
                </a:solidFill>
                <a:latin typeface="Segoe UI"/>
              </a:rPr>
              <a:t>KubeQuest — Groupe 50 · Epitech MSc Pro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4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E8E"/>
                </a:solidFill>
                <a:latin typeface="Segoe UI"/>
              </a:rPr>
              <a:t>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Segoe UI"/>
              </a:rPr>
              <a:t>Feuille de route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0927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1B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84832"/>
            <a:ext cx="96926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1F3A"/>
                </a:solidFill>
                <a:latin typeface="Segoe UI"/>
              </a:rPr>
              <a:t>100 % de l'équipe hands-on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41448"/>
            <a:ext cx="969264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25C"/>
                </a:solidFill>
                <a:latin typeface="Segoe UI"/>
              </a:rPr>
              <a:t>kubectl + 4 VM pour chacun, tracé.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26080"/>
            <a:ext cx="10927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8680" y="3108960"/>
            <a:ext cx="457200" cy="457200"/>
          </a:xfrm>
          <a:prstGeom prst="ellipse">
            <a:avLst/>
          </a:prstGeom>
          <a:solidFill>
            <a:srgbClr val="C7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108960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44952"/>
            <a:ext cx="96926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1F3A"/>
                </a:solidFill>
                <a:latin typeface="Segoe UI"/>
              </a:rPr>
              <a:t>Dashboards &amp; alertes finalisés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01568"/>
            <a:ext cx="969264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25C"/>
                </a:solidFill>
                <a:latin typeface="Segoe UI"/>
              </a:rPr>
              <a:t>Grafana + règles d'alerte prêts keynote.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86200"/>
            <a:ext cx="10927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8680" y="4069080"/>
            <a:ext cx="457200" cy="4572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005072"/>
            <a:ext cx="96926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1F3A"/>
                </a:solidFill>
                <a:latin typeface="Segoe UI"/>
              </a:rPr>
              <a:t>Scénarios de chaos répétés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61688"/>
            <a:ext cx="969264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25C"/>
                </a:solidFill>
                <a:latin typeface="Segoe UI"/>
              </a:rPr>
              <a:t>load-test, panne, rollback observés.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46320"/>
            <a:ext cx="10927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8680" y="5029200"/>
            <a:ext cx="457200" cy="457200"/>
          </a:xfrm>
          <a:prstGeom prst="ellipse">
            <a:avLst/>
          </a:prstGeom>
          <a:solidFill>
            <a:srgbClr val="0E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029200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965192"/>
            <a:ext cx="96926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1F3A"/>
                </a:solidFill>
                <a:latin typeface="Segoe UI"/>
              </a:rPr>
              <a:t>Bonus &amp; durcissement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321808"/>
            <a:ext cx="969264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25C"/>
                </a:solidFill>
                <a:latin typeface="Segoe UI"/>
              </a:rPr>
              <a:t>ArgoCD, backups, sécurité PHP.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4"/>
                </a:solidFill>
                <a:latin typeface="Segoe UI"/>
              </a:rPr>
              <a:t>KubeQuest — Groupe 50 · Epitech MSc Pro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94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9E8E"/>
                </a:solidFill>
                <a:latin typeface="Segoe UI"/>
              </a:rPr>
              <a:t>EN RÉSUMÉ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0B1F3A"/>
                </a:solidFill>
                <a:latin typeface="Segoe UI"/>
              </a:rPr>
              <a:t>Cluster 4 nœuds, monitoring live,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1E4FB8"/>
                </a:solidFill>
                <a:latin typeface="Segoe UI"/>
              </a:rPr>
              <a:t>sécurité durcie — déjà en mode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577840"/>
            <a:ext cx="10515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733288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B7A94"/>
                </a:solidFill>
                <a:latin typeface="Segoe UI"/>
              </a:rPr>
              <a:t>Groupe 50 — </a:t>
            </a:r>
            <a:r>
              <a:rPr sz="1300" b="1" i="0">
                <a:solidFill>
                  <a:srgbClr val="0B1F3A"/>
                </a:solidFill>
                <a:latin typeface="Segoe UI"/>
              </a:rPr>
              <a:t>Liora Toledano  ·  Zeyu Hou  ·  Nathan Han</a:t>
            </a:r>
            <a:r>
              <a:rPr sz="1300" b="0" i="0">
                <a:solidFill>
                  <a:srgbClr val="6B7A94"/>
                </a:solidFill>
                <a:latin typeface="Segoe UI"/>
              </a:rPr>
              <a:t>   ·  KubeQuest · Epitech MSc Pro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2594</Words>
  <Application>Microsoft Office PowerPoint</Application>
  <PresentationFormat>Grand écran</PresentationFormat>
  <Paragraphs>215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Nathan Han</cp:lastModifiedBy>
  <cp:revision>2</cp:revision>
  <dcterms:created xsi:type="dcterms:W3CDTF">2013-01-27T09:14:16Z</dcterms:created>
  <dcterms:modified xsi:type="dcterms:W3CDTF">2026-07-10T10:55:46Z</dcterms:modified>
  <cp:category/>
</cp:coreProperties>
</file>